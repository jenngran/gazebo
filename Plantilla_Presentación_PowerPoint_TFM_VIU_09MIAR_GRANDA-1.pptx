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</p:sldMasterIdLst>
  <p:notesMasterIdLst>
    <p:notesMasterId r:id="rId15"/>
  </p:notesMasterIdLst>
  <p:handoutMasterIdLst>
    <p:handoutMasterId r:id="rId16"/>
  </p:handoutMasterIdLst>
  <p:sldIdLst>
    <p:sldId id="257" r:id="rId3"/>
    <p:sldId id="283" r:id="rId4"/>
    <p:sldId id="285" r:id="rId5"/>
    <p:sldId id="286" r:id="rId6"/>
    <p:sldId id="288" r:id="rId7"/>
    <p:sldId id="289" r:id="rId8"/>
    <p:sldId id="290" r:id="rId9"/>
    <p:sldId id="267" r:id="rId10"/>
    <p:sldId id="293" r:id="rId11"/>
    <p:sldId id="292" r:id="rId12"/>
    <p:sldId id="291" r:id="rId13"/>
    <p:sldId id="272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50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09C3F8-FC5C-4E9B-A980-94B9309CFF23}" v="27" dt="2026-04-22T20:00:40.4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85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667" y="29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s-ES"/>
              <a:t>10/02/2021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581421-27F4-426B-B32A-73D3EF1DA1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426387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s-ES"/>
              <a:t>10/02/2021</a:t>
            </a:r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BA55C-5BC3-4AE0-8ADF-64D5CF5788D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620443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32B78233-A5DB-994B-BD41-02BB62B896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096" y="0"/>
            <a:ext cx="12204096" cy="6858000"/>
          </a:xfrm>
          <a:prstGeom prst="rect">
            <a:avLst/>
          </a:prstGeom>
        </p:spPr>
      </p:pic>
      <p:sp>
        <p:nvSpPr>
          <p:cNvPr id="8" name="Marcador de texto 13">
            <a:extLst>
              <a:ext uri="{FF2B5EF4-FFF2-40B4-BE49-F238E27FC236}">
                <a16:creationId xmlns:a16="http://schemas.microsoft.com/office/drawing/2014/main" id="{204741AB-5D58-1643-89C3-8D22DB98A0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6893" y="325097"/>
            <a:ext cx="7580339" cy="902393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5400" b="0" i="0" spc="-100" baseline="0">
                <a:solidFill>
                  <a:schemeClr val="tx1"/>
                </a:solidFill>
                <a:latin typeface="Periodico Display UtLg" panose="0200050407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sp>
        <p:nvSpPr>
          <p:cNvPr id="9" name="Marcador de texto 13">
            <a:extLst>
              <a:ext uri="{FF2B5EF4-FFF2-40B4-BE49-F238E27FC236}">
                <a16:creationId xmlns:a16="http://schemas.microsoft.com/office/drawing/2014/main" id="{DF7306E1-EC40-8E43-99C5-762DD98192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893" y="1264063"/>
            <a:ext cx="7570912" cy="563602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300" b="0" i="0" spc="0" baseline="0">
                <a:solidFill>
                  <a:schemeClr val="tx1"/>
                </a:solidFill>
                <a:latin typeface="Visuelt Pro" panose="020B05030402020401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Subtítulo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1303373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98B2BFC-9FDE-5B4B-BCF2-2C8FCC4E85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arcador de texto 13">
            <a:extLst>
              <a:ext uri="{FF2B5EF4-FFF2-40B4-BE49-F238E27FC236}">
                <a16:creationId xmlns:a16="http://schemas.microsoft.com/office/drawing/2014/main" id="{204741AB-5D58-1643-89C3-8D22DB98A0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6893" y="325097"/>
            <a:ext cx="7580339" cy="120737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8000" b="0" i="0" spc="-100" baseline="0">
                <a:solidFill>
                  <a:schemeClr val="tx1"/>
                </a:solidFill>
                <a:latin typeface="Periodico Display UtLg" panose="0200050407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¡Gracias!</a:t>
            </a:r>
          </a:p>
        </p:txBody>
      </p:sp>
    </p:spTree>
    <p:extLst>
      <p:ext uri="{BB962C8B-B14F-4D97-AF65-F5344CB8AC3E}">
        <p14:creationId xmlns:p14="http://schemas.microsoft.com/office/powerpoint/2010/main" val="625600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/>
          <p:cNvGrpSpPr/>
          <p:nvPr userDrawn="1"/>
        </p:nvGrpSpPr>
        <p:grpSpPr>
          <a:xfrm>
            <a:off x="-435397" y="2092493"/>
            <a:ext cx="12010922" cy="2673014"/>
            <a:chOff x="-376518" y="2071908"/>
            <a:chExt cx="12010922" cy="2673014"/>
          </a:xfrm>
        </p:grpSpPr>
        <p:sp>
          <p:nvSpPr>
            <p:cNvPr id="6" name="Triángulo isósceles 5"/>
            <p:cNvSpPr/>
            <p:nvPr/>
          </p:nvSpPr>
          <p:spPr>
            <a:xfrm rot="19800000">
              <a:off x="-376518" y="2124867"/>
              <a:ext cx="3025588" cy="2608266"/>
            </a:xfrm>
            <a:prstGeom prst="triangle">
              <a:avLst/>
            </a:prstGeom>
            <a:solidFill>
              <a:srgbClr val="E65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" name="Triángulo isósceles 6"/>
            <p:cNvSpPr/>
            <p:nvPr/>
          </p:nvSpPr>
          <p:spPr>
            <a:xfrm rot="19800000">
              <a:off x="2618593" y="2136656"/>
              <a:ext cx="3025588" cy="2608266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Triángulo isósceles 7"/>
            <p:cNvSpPr/>
            <p:nvPr/>
          </p:nvSpPr>
          <p:spPr>
            <a:xfrm rot="19800000">
              <a:off x="5613706" y="2124867"/>
              <a:ext cx="3025588" cy="2608266"/>
            </a:xfrm>
            <a:prstGeom prst="triangle">
              <a:avLst/>
            </a:prstGeom>
            <a:solidFill>
              <a:srgbClr val="E65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" name="Triángulo isósceles 8"/>
            <p:cNvSpPr/>
            <p:nvPr/>
          </p:nvSpPr>
          <p:spPr>
            <a:xfrm rot="19800000">
              <a:off x="8608816" y="2071908"/>
              <a:ext cx="3025588" cy="2608266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837798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42E1C2F-5BF7-6A4B-B25E-96F8E7915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51227" y="0"/>
            <a:ext cx="12192000" cy="6858000"/>
          </a:xfrm>
          <a:prstGeom prst="rect">
            <a:avLst/>
          </a:prstGeom>
        </p:spPr>
      </p:pic>
      <p:sp>
        <p:nvSpPr>
          <p:cNvPr id="8" name="Marcador de texto 13">
            <a:extLst>
              <a:ext uri="{FF2B5EF4-FFF2-40B4-BE49-F238E27FC236}">
                <a16:creationId xmlns:a16="http://schemas.microsoft.com/office/drawing/2014/main" id="{B6CB6766-AA25-7F46-A3DD-4D70475B90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160" y="5054600"/>
            <a:ext cx="11415107" cy="948267"/>
          </a:xfrm>
          <a:prstGeom prst="rect">
            <a:avLst/>
          </a:prstGeom>
        </p:spPr>
        <p:txBody>
          <a:bodyPr wrap="square" lIns="0" tIns="0" r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100" b="0" i="0" spc="-100" baseline="0">
                <a:solidFill>
                  <a:schemeClr val="tx1"/>
                </a:solidFill>
                <a:latin typeface="Periodico Display UtLg" panose="0200050407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capítulo</a:t>
            </a:r>
          </a:p>
        </p:txBody>
      </p:sp>
    </p:spTree>
    <p:extLst>
      <p:ext uri="{BB962C8B-B14F-4D97-AF65-F5344CB8AC3E}">
        <p14:creationId xmlns:p14="http://schemas.microsoft.com/office/powerpoint/2010/main" val="570490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xágono 1"/>
          <p:cNvSpPr/>
          <p:nvPr userDrawn="1"/>
        </p:nvSpPr>
        <p:spPr>
          <a:xfrm>
            <a:off x="4773651" y="649376"/>
            <a:ext cx="6415679" cy="5563416"/>
          </a:xfrm>
          <a:custGeom>
            <a:avLst/>
            <a:gdLst>
              <a:gd name="connsiteX0" fmla="*/ 0 w 5998585"/>
              <a:gd name="connsiteY0" fmla="*/ 2781709 h 5563418"/>
              <a:gd name="connsiteX1" fmla="*/ 1390855 w 5998585"/>
              <a:gd name="connsiteY1" fmla="*/ 1 h 5563418"/>
              <a:gd name="connsiteX2" fmla="*/ 4607731 w 5998585"/>
              <a:gd name="connsiteY2" fmla="*/ 1 h 5563418"/>
              <a:gd name="connsiteX3" fmla="*/ 5998585 w 5998585"/>
              <a:gd name="connsiteY3" fmla="*/ 2781709 h 5563418"/>
              <a:gd name="connsiteX4" fmla="*/ 4607731 w 5998585"/>
              <a:gd name="connsiteY4" fmla="*/ 5563417 h 5563418"/>
              <a:gd name="connsiteX5" fmla="*/ 1390855 w 5998585"/>
              <a:gd name="connsiteY5" fmla="*/ 5563417 h 5563418"/>
              <a:gd name="connsiteX6" fmla="*/ 0 w 5998585"/>
              <a:gd name="connsiteY6" fmla="*/ 2781709 h 5563418"/>
              <a:gd name="connsiteX0" fmla="*/ 0 w 6207132"/>
              <a:gd name="connsiteY0" fmla="*/ 2785719 h 5563416"/>
              <a:gd name="connsiteX1" fmla="*/ 1599402 w 6207132"/>
              <a:gd name="connsiteY1" fmla="*/ 0 h 5563416"/>
              <a:gd name="connsiteX2" fmla="*/ 4816278 w 6207132"/>
              <a:gd name="connsiteY2" fmla="*/ 0 h 5563416"/>
              <a:gd name="connsiteX3" fmla="*/ 6207132 w 6207132"/>
              <a:gd name="connsiteY3" fmla="*/ 2781708 h 5563416"/>
              <a:gd name="connsiteX4" fmla="*/ 4816278 w 6207132"/>
              <a:gd name="connsiteY4" fmla="*/ 5563416 h 5563416"/>
              <a:gd name="connsiteX5" fmla="*/ 1599402 w 6207132"/>
              <a:gd name="connsiteY5" fmla="*/ 5563416 h 5563416"/>
              <a:gd name="connsiteX6" fmla="*/ 0 w 6207132"/>
              <a:gd name="connsiteY6" fmla="*/ 2785719 h 5563416"/>
              <a:gd name="connsiteX0" fmla="*/ 0 w 6415679"/>
              <a:gd name="connsiteY0" fmla="*/ 2785719 h 5563416"/>
              <a:gd name="connsiteX1" fmla="*/ 1599402 w 6415679"/>
              <a:gd name="connsiteY1" fmla="*/ 0 h 5563416"/>
              <a:gd name="connsiteX2" fmla="*/ 4816278 w 6415679"/>
              <a:gd name="connsiteY2" fmla="*/ 0 h 5563416"/>
              <a:gd name="connsiteX3" fmla="*/ 6415679 w 6415679"/>
              <a:gd name="connsiteY3" fmla="*/ 2785718 h 5563416"/>
              <a:gd name="connsiteX4" fmla="*/ 4816278 w 6415679"/>
              <a:gd name="connsiteY4" fmla="*/ 5563416 h 5563416"/>
              <a:gd name="connsiteX5" fmla="*/ 1599402 w 6415679"/>
              <a:gd name="connsiteY5" fmla="*/ 5563416 h 5563416"/>
              <a:gd name="connsiteX6" fmla="*/ 0 w 6415679"/>
              <a:gd name="connsiteY6" fmla="*/ 2785719 h 556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15679" h="5563416">
                <a:moveTo>
                  <a:pt x="0" y="2785719"/>
                </a:moveTo>
                <a:lnTo>
                  <a:pt x="1599402" y="0"/>
                </a:lnTo>
                <a:lnTo>
                  <a:pt x="4816278" y="0"/>
                </a:lnTo>
                <a:lnTo>
                  <a:pt x="6415679" y="2785718"/>
                </a:lnTo>
                <a:lnTo>
                  <a:pt x="4816278" y="5563416"/>
                </a:lnTo>
                <a:lnTo>
                  <a:pt x="1599402" y="5563416"/>
                </a:lnTo>
                <a:lnTo>
                  <a:pt x="0" y="2785719"/>
                </a:lnTo>
                <a:close/>
              </a:path>
            </a:pathLst>
          </a:custGeom>
          <a:solidFill>
            <a:srgbClr val="E65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Marcador de texto 13">
            <a:extLst>
              <a:ext uri="{FF2B5EF4-FFF2-40B4-BE49-F238E27FC236}">
                <a16:creationId xmlns:a16="http://schemas.microsoft.com/office/drawing/2014/main" id="{B6CB6766-AA25-7F46-A3DD-4D70475B90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160" y="5054600"/>
            <a:ext cx="11415107" cy="948267"/>
          </a:xfrm>
          <a:prstGeom prst="rect">
            <a:avLst/>
          </a:prstGeom>
        </p:spPr>
        <p:txBody>
          <a:bodyPr wrap="square" lIns="0" tIns="0" r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100" b="0" i="0" spc="-100" baseline="0">
                <a:solidFill>
                  <a:schemeClr val="tx1"/>
                </a:solidFill>
                <a:latin typeface="Periodico Display UtLg" panose="0200050407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capítulo</a:t>
            </a:r>
          </a:p>
        </p:txBody>
      </p:sp>
    </p:spTree>
    <p:extLst>
      <p:ext uri="{BB962C8B-B14F-4D97-AF65-F5344CB8AC3E}">
        <p14:creationId xmlns:p14="http://schemas.microsoft.com/office/powerpoint/2010/main" val="388738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bre 7"/>
          <p:cNvSpPr/>
          <p:nvPr userDrawn="1"/>
        </p:nvSpPr>
        <p:spPr>
          <a:xfrm rot="18900759">
            <a:off x="3070681" y="1380981"/>
            <a:ext cx="5665932" cy="4429228"/>
          </a:xfrm>
          <a:custGeom>
            <a:avLst/>
            <a:gdLst>
              <a:gd name="connsiteX0" fmla="*/ 5015075 w 5665932"/>
              <a:gd name="connsiteY0" fmla="*/ 648365 h 4429228"/>
              <a:gd name="connsiteX1" fmla="*/ 5018245 w 5665932"/>
              <a:gd name="connsiteY1" fmla="*/ 3783325 h 4429228"/>
              <a:gd name="connsiteX2" fmla="*/ 3557758 w 5665932"/>
              <a:gd name="connsiteY2" fmla="*/ 4429228 h 4429228"/>
              <a:gd name="connsiteX3" fmla="*/ 3336317 w 5665932"/>
              <a:gd name="connsiteY3" fmla="*/ 4426460 h 4429228"/>
              <a:gd name="connsiteX4" fmla="*/ 2291490 w 5665932"/>
              <a:gd name="connsiteY4" fmla="*/ 4426461 h 4429228"/>
              <a:gd name="connsiteX5" fmla="*/ 2291490 w 5665932"/>
              <a:gd name="connsiteY5" fmla="*/ 4426398 h 4429228"/>
              <a:gd name="connsiteX6" fmla="*/ 2112653 w 5665932"/>
              <a:gd name="connsiteY6" fmla="*/ 4428429 h 4429228"/>
              <a:gd name="connsiteX7" fmla="*/ 650858 w 5665932"/>
              <a:gd name="connsiteY7" fmla="*/ 3780861 h 4429228"/>
              <a:gd name="connsiteX8" fmla="*/ 647687 w 5665932"/>
              <a:gd name="connsiteY8" fmla="*/ 645902 h 4429228"/>
              <a:gd name="connsiteX9" fmla="*/ 2108174 w 5665932"/>
              <a:gd name="connsiteY9" fmla="*/ 0 h 4429228"/>
              <a:gd name="connsiteX10" fmla="*/ 2336008 w 5665932"/>
              <a:gd name="connsiteY10" fmla="*/ 2847 h 4429228"/>
              <a:gd name="connsiteX11" fmla="*/ 3372884 w 5665932"/>
              <a:gd name="connsiteY11" fmla="*/ 2847 h 4429228"/>
              <a:gd name="connsiteX12" fmla="*/ 3553279 w 5665932"/>
              <a:gd name="connsiteY12" fmla="*/ 798 h 4429228"/>
              <a:gd name="connsiteX13" fmla="*/ 5015075 w 5665932"/>
              <a:gd name="connsiteY13" fmla="*/ 648365 h 4429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665932" h="4429228">
                <a:moveTo>
                  <a:pt x="5015075" y="648365"/>
                </a:moveTo>
                <a:cubicBezTo>
                  <a:pt x="5881646" y="1514554"/>
                  <a:pt x="5883065" y="2918123"/>
                  <a:pt x="5018245" y="3783325"/>
                </a:cubicBezTo>
                <a:cubicBezTo>
                  <a:pt x="4612861" y="4188888"/>
                  <a:pt x="4089099" y="4404168"/>
                  <a:pt x="3557758" y="4429228"/>
                </a:cubicBezTo>
                <a:lnTo>
                  <a:pt x="3336317" y="4426460"/>
                </a:lnTo>
                <a:lnTo>
                  <a:pt x="2291490" y="4426461"/>
                </a:lnTo>
                <a:lnTo>
                  <a:pt x="2291490" y="4426398"/>
                </a:lnTo>
                <a:lnTo>
                  <a:pt x="2112653" y="4428429"/>
                </a:lnTo>
                <a:cubicBezTo>
                  <a:pt x="1581261" y="4402764"/>
                  <a:pt x="1057063" y="4186887"/>
                  <a:pt x="650858" y="3780861"/>
                </a:cubicBezTo>
                <a:cubicBezTo>
                  <a:pt x="-215713" y="2914673"/>
                  <a:pt x="-217133" y="1511103"/>
                  <a:pt x="647687" y="645902"/>
                </a:cubicBezTo>
                <a:cubicBezTo>
                  <a:pt x="1053071" y="240338"/>
                  <a:pt x="1576833" y="25059"/>
                  <a:pt x="2108174" y="0"/>
                </a:cubicBezTo>
                <a:lnTo>
                  <a:pt x="2336008" y="2847"/>
                </a:lnTo>
                <a:lnTo>
                  <a:pt x="3372884" y="2847"/>
                </a:lnTo>
                <a:lnTo>
                  <a:pt x="3553279" y="798"/>
                </a:lnTo>
                <a:cubicBezTo>
                  <a:pt x="4084672" y="26463"/>
                  <a:pt x="4608870" y="242340"/>
                  <a:pt x="5015075" y="648365"/>
                </a:cubicBezTo>
                <a:close/>
              </a:path>
            </a:pathLst>
          </a:custGeom>
          <a:solidFill>
            <a:srgbClr val="E65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7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04558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ágono 1"/>
          <p:cNvSpPr/>
          <p:nvPr userDrawn="1"/>
        </p:nvSpPr>
        <p:spPr>
          <a:xfrm>
            <a:off x="2888161" y="647292"/>
            <a:ext cx="6415679" cy="5563416"/>
          </a:xfrm>
          <a:custGeom>
            <a:avLst/>
            <a:gdLst>
              <a:gd name="connsiteX0" fmla="*/ 0 w 5998585"/>
              <a:gd name="connsiteY0" fmla="*/ 2781709 h 5563418"/>
              <a:gd name="connsiteX1" fmla="*/ 1390855 w 5998585"/>
              <a:gd name="connsiteY1" fmla="*/ 1 h 5563418"/>
              <a:gd name="connsiteX2" fmla="*/ 4607731 w 5998585"/>
              <a:gd name="connsiteY2" fmla="*/ 1 h 5563418"/>
              <a:gd name="connsiteX3" fmla="*/ 5998585 w 5998585"/>
              <a:gd name="connsiteY3" fmla="*/ 2781709 h 5563418"/>
              <a:gd name="connsiteX4" fmla="*/ 4607731 w 5998585"/>
              <a:gd name="connsiteY4" fmla="*/ 5563417 h 5563418"/>
              <a:gd name="connsiteX5" fmla="*/ 1390855 w 5998585"/>
              <a:gd name="connsiteY5" fmla="*/ 5563417 h 5563418"/>
              <a:gd name="connsiteX6" fmla="*/ 0 w 5998585"/>
              <a:gd name="connsiteY6" fmla="*/ 2781709 h 5563418"/>
              <a:gd name="connsiteX0" fmla="*/ 0 w 6207132"/>
              <a:gd name="connsiteY0" fmla="*/ 2785719 h 5563416"/>
              <a:gd name="connsiteX1" fmla="*/ 1599402 w 6207132"/>
              <a:gd name="connsiteY1" fmla="*/ 0 h 5563416"/>
              <a:gd name="connsiteX2" fmla="*/ 4816278 w 6207132"/>
              <a:gd name="connsiteY2" fmla="*/ 0 h 5563416"/>
              <a:gd name="connsiteX3" fmla="*/ 6207132 w 6207132"/>
              <a:gd name="connsiteY3" fmla="*/ 2781708 h 5563416"/>
              <a:gd name="connsiteX4" fmla="*/ 4816278 w 6207132"/>
              <a:gd name="connsiteY4" fmla="*/ 5563416 h 5563416"/>
              <a:gd name="connsiteX5" fmla="*/ 1599402 w 6207132"/>
              <a:gd name="connsiteY5" fmla="*/ 5563416 h 5563416"/>
              <a:gd name="connsiteX6" fmla="*/ 0 w 6207132"/>
              <a:gd name="connsiteY6" fmla="*/ 2785719 h 5563416"/>
              <a:gd name="connsiteX0" fmla="*/ 0 w 6415679"/>
              <a:gd name="connsiteY0" fmla="*/ 2785719 h 5563416"/>
              <a:gd name="connsiteX1" fmla="*/ 1599402 w 6415679"/>
              <a:gd name="connsiteY1" fmla="*/ 0 h 5563416"/>
              <a:gd name="connsiteX2" fmla="*/ 4816278 w 6415679"/>
              <a:gd name="connsiteY2" fmla="*/ 0 h 5563416"/>
              <a:gd name="connsiteX3" fmla="*/ 6415679 w 6415679"/>
              <a:gd name="connsiteY3" fmla="*/ 2785718 h 5563416"/>
              <a:gd name="connsiteX4" fmla="*/ 4816278 w 6415679"/>
              <a:gd name="connsiteY4" fmla="*/ 5563416 h 5563416"/>
              <a:gd name="connsiteX5" fmla="*/ 1599402 w 6415679"/>
              <a:gd name="connsiteY5" fmla="*/ 5563416 h 5563416"/>
              <a:gd name="connsiteX6" fmla="*/ 0 w 6415679"/>
              <a:gd name="connsiteY6" fmla="*/ 2785719 h 556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15679" h="5563416">
                <a:moveTo>
                  <a:pt x="0" y="2785719"/>
                </a:moveTo>
                <a:lnTo>
                  <a:pt x="1599402" y="0"/>
                </a:lnTo>
                <a:lnTo>
                  <a:pt x="4816278" y="0"/>
                </a:lnTo>
                <a:lnTo>
                  <a:pt x="6415679" y="2785718"/>
                </a:lnTo>
                <a:lnTo>
                  <a:pt x="4816278" y="5563416"/>
                </a:lnTo>
                <a:lnTo>
                  <a:pt x="1599402" y="5563416"/>
                </a:lnTo>
                <a:lnTo>
                  <a:pt x="0" y="27857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7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0160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stacad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ágono 1"/>
          <p:cNvSpPr/>
          <p:nvPr userDrawn="1"/>
        </p:nvSpPr>
        <p:spPr>
          <a:xfrm>
            <a:off x="2888161" y="647292"/>
            <a:ext cx="6415679" cy="556341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7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26850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stacad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ágono 1"/>
          <p:cNvSpPr/>
          <p:nvPr userDrawn="1"/>
        </p:nvSpPr>
        <p:spPr>
          <a:xfrm>
            <a:off x="3315000" y="647292"/>
            <a:ext cx="5562000" cy="55634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7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64259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estacad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ágono 1"/>
          <p:cNvSpPr/>
          <p:nvPr userDrawn="1"/>
        </p:nvSpPr>
        <p:spPr>
          <a:xfrm>
            <a:off x="3137022" y="647292"/>
            <a:ext cx="5917957" cy="5563416"/>
          </a:xfrm>
          <a:prstGeom prst="pentag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7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59176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estacad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ágono 1"/>
          <p:cNvSpPr/>
          <p:nvPr userDrawn="1"/>
        </p:nvSpPr>
        <p:spPr>
          <a:xfrm>
            <a:off x="3315000" y="647292"/>
            <a:ext cx="5562000" cy="5563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7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559069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estacad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xágono 1"/>
          <p:cNvSpPr/>
          <p:nvPr userDrawn="1"/>
        </p:nvSpPr>
        <p:spPr>
          <a:xfrm rot="2700000">
            <a:off x="4119915" y="1452412"/>
            <a:ext cx="3952170" cy="3953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6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16516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estacad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ágono 1"/>
          <p:cNvSpPr/>
          <p:nvPr userDrawn="1"/>
        </p:nvSpPr>
        <p:spPr>
          <a:xfrm>
            <a:off x="3137022" y="647292"/>
            <a:ext cx="5562000" cy="556341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8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916204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xágono 1"/>
          <p:cNvSpPr/>
          <p:nvPr userDrawn="1"/>
        </p:nvSpPr>
        <p:spPr>
          <a:xfrm>
            <a:off x="3315000" y="647292"/>
            <a:ext cx="5562000" cy="5563416"/>
          </a:xfrm>
          <a:prstGeom prst="ellipse">
            <a:avLst/>
          </a:prstGeom>
          <a:solidFill>
            <a:srgbClr val="E65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s-ES" sz="3100" b="1" i="0" kern="1200" dirty="0">
                <a:solidFill>
                  <a:schemeClr val="tx1"/>
                </a:solidFill>
                <a:latin typeface="Periodico Display Rg" panose="02000504080000020004" pitchFamily="50" charset="0"/>
                <a:ea typeface="+mn-ea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8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61585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staca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ágono 1"/>
          <p:cNvSpPr/>
          <p:nvPr userDrawn="1"/>
        </p:nvSpPr>
        <p:spPr>
          <a:xfrm>
            <a:off x="3315000" y="647292"/>
            <a:ext cx="5562000" cy="5563416"/>
          </a:xfrm>
          <a:prstGeom prst="roundRect">
            <a:avLst/>
          </a:prstGeom>
          <a:solidFill>
            <a:srgbClr val="E65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7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577127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staca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ágono 1"/>
          <p:cNvSpPr/>
          <p:nvPr userDrawn="1"/>
        </p:nvSpPr>
        <p:spPr>
          <a:xfrm>
            <a:off x="3315000" y="647292"/>
            <a:ext cx="5562000" cy="5563416"/>
          </a:xfrm>
          <a:prstGeom prst="rect">
            <a:avLst/>
          </a:prstGeom>
          <a:solidFill>
            <a:srgbClr val="E65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7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08558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staca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xágono 1"/>
          <p:cNvSpPr/>
          <p:nvPr userDrawn="1"/>
        </p:nvSpPr>
        <p:spPr>
          <a:xfrm rot="2700000">
            <a:off x="4119915" y="1452412"/>
            <a:ext cx="3952170" cy="3953176"/>
          </a:xfrm>
          <a:prstGeom prst="rect">
            <a:avLst/>
          </a:prstGeom>
          <a:solidFill>
            <a:srgbClr val="E65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6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06091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estaca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ágono 1"/>
          <p:cNvSpPr/>
          <p:nvPr userDrawn="1"/>
        </p:nvSpPr>
        <p:spPr>
          <a:xfrm>
            <a:off x="3137022" y="647292"/>
            <a:ext cx="5917957" cy="5563416"/>
          </a:xfrm>
          <a:prstGeom prst="pentagon">
            <a:avLst/>
          </a:prstGeom>
          <a:solidFill>
            <a:srgbClr val="E65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8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819166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estaca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xágono 1"/>
          <p:cNvSpPr/>
          <p:nvPr userDrawn="1"/>
        </p:nvSpPr>
        <p:spPr>
          <a:xfrm>
            <a:off x="2888161" y="647292"/>
            <a:ext cx="6415679" cy="5563416"/>
          </a:xfrm>
          <a:custGeom>
            <a:avLst/>
            <a:gdLst>
              <a:gd name="connsiteX0" fmla="*/ 0 w 5998585"/>
              <a:gd name="connsiteY0" fmla="*/ 2781709 h 5563418"/>
              <a:gd name="connsiteX1" fmla="*/ 1390855 w 5998585"/>
              <a:gd name="connsiteY1" fmla="*/ 1 h 5563418"/>
              <a:gd name="connsiteX2" fmla="*/ 4607731 w 5998585"/>
              <a:gd name="connsiteY2" fmla="*/ 1 h 5563418"/>
              <a:gd name="connsiteX3" fmla="*/ 5998585 w 5998585"/>
              <a:gd name="connsiteY3" fmla="*/ 2781709 h 5563418"/>
              <a:gd name="connsiteX4" fmla="*/ 4607731 w 5998585"/>
              <a:gd name="connsiteY4" fmla="*/ 5563417 h 5563418"/>
              <a:gd name="connsiteX5" fmla="*/ 1390855 w 5998585"/>
              <a:gd name="connsiteY5" fmla="*/ 5563417 h 5563418"/>
              <a:gd name="connsiteX6" fmla="*/ 0 w 5998585"/>
              <a:gd name="connsiteY6" fmla="*/ 2781709 h 5563418"/>
              <a:gd name="connsiteX0" fmla="*/ 0 w 6207132"/>
              <a:gd name="connsiteY0" fmla="*/ 2785719 h 5563416"/>
              <a:gd name="connsiteX1" fmla="*/ 1599402 w 6207132"/>
              <a:gd name="connsiteY1" fmla="*/ 0 h 5563416"/>
              <a:gd name="connsiteX2" fmla="*/ 4816278 w 6207132"/>
              <a:gd name="connsiteY2" fmla="*/ 0 h 5563416"/>
              <a:gd name="connsiteX3" fmla="*/ 6207132 w 6207132"/>
              <a:gd name="connsiteY3" fmla="*/ 2781708 h 5563416"/>
              <a:gd name="connsiteX4" fmla="*/ 4816278 w 6207132"/>
              <a:gd name="connsiteY4" fmla="*/ 5563416 h 5563416"/>
              <a:gd name="connsiteX5" fmla="*/ 1599402 w 6207132"/>
              <a:gd name="connsiteY5" fmla="*/ 5563416 h 5563416"/>
              <a:gd name="connsiteX6" fmla="*/ 0 w 6207132"/>
              <a:gd name="connsiteY6" fmla="*/ 2785719 h 5563416"/>
              <a:gd name="connsiteX0" fmla="*/ 0 w 6415679"/>
              <a:gd name="connsiteY0" fmla="*/ 2785719 h 5563416"/>
              <a:gd name="connsiteX1" fmla="*/ 1599402 w 6415679"/>
              <a:gd name="connsiteY1" fmla="*/ 0 h 5563416"/>
              <a:gd name="connsiteX2" fmla="*/ 4816278 w 6415679"/>
              <a:gd name="connsiteY2" fmla="*/ 0 h 5563416"/>
              <a:gd name="connsiteX3" fmla="*/ 6415679 w 6415679"/>
              <a:gd name="connsiteY3" fmla="*/ 2785718 h 5563416"/>
              <a:gd name="connsiteX4" fmla="*/ 4816278 w 6415679"/>
              <a:gd name="connsiteY4" fmla="*/ 5563416 h 5563416"/>
              <a:gd name="connsiteX5" fmla="*/ 1599402 w 6415679"/>
              <a:gd name="connsiteY5" fmla="*/ 5563416 h 5563416"/>
              <a:gd name="connsiteX6" fmla="*/ 0 w 6415679"/>
              <a:gd name="connsiteY6" fmla="*/ 2785719 h 556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15679" h="5563416">
                <a:moveTo>
                  <a:pt x="0" y="2785719"/>
                </a:moveTo>
                <a:lnTo>
                  <a:pt x="1599402" y="0"/>
                </a:lnTo>
                <a:lnTo>
                  <a:pt x="4816278" y="0"/>
                </a:lnTo>
                <a:lnTo>
                  <a:pt x="6415679" y="2785718"/>
                </a:lnTo>
                <a:lnTo>
                  <a:pt x="4816278" y="5563416"/>
                </a:lnTo>
                <a:lnTo>
                  <a:pt x="1599402" y="5563416"/>
                </a:lnTo>
                <a:lnTo>
                  <a:pt x="0" y="2785719"/>
                </a:lnTo>
                <a:close/>
              </a:path>
            </a:pathLst>
          </a:custGeom>
          <a:solidFill>
            <a:srgbClr val="E65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6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881031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EC5A1A76-DED3-E845-BEE2-CEC5330692FA}"/>
              </a:ext>
            </a:extLst>
          </p:cNvPr>
          <p:cNvSpPr/>
          <p:nvPr userDrawn="1"/>
        </p:nvSpPr>
        <p:spPr>
          <a:xfrm>
            <a:off x="6112933" y="-3889"/>
            <a:ext cx="607906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Marcador de texto 6">
            <a:extLst>
              <a:ext uri="{FF2B5EF4-FFF2-40B4-BE49-F238E27FC236}">
                <a16:creationId xmlns:a16="http://schemas.microsoft.com/office/drawing/2014/main" id="{74E002C9-065A-2745-84D6-F0F746DDFB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05396" y="4568825"/>
            <a:ext cx="4715835" cy="118004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100"/>
              </a:spcBef>
              <a:buClr>
                <a:srgbClr val="E65014"/>
              </a:buClr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2" name="Marcador de texto 72">
            <a:extLst>
              <a:ext uri="{FF2B5EF4-FFF2-40B4-BE49-F238E27FC236}">
                <a16:creationId xmlns:a16="http://schemas.microsoft.com/office/drawing/2014/main" id="{1386661A-C4BB-9D44-9529-77D39FBB837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05396" y="1885739"/>
            <a:ext cx="4721161" cy="3429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1">
                <a:solidFill>
                  <a:srgbClr val="E65014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párrafo</a:t>
            </a:r>
          </a:p>
        </p:txBody>
      </p:sp>
      <p:sp>
        <p:nvSpPr>
          <p:cNvPr id="13" name="Marcador de texto 72">
            <a:extLst>
              <a:ext uri="{FF2B5EF4-FFF2-40B4-BE49-F238E27FC236}">
                <a16:creationId xmlns:a16="http://schemas.microsoft.com/office/drawing/2014/main" id="{4F9B5E30-28D4-134D-ACAF-3A59D70E8E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05396" y="2424903"/>
            <a:ext cx="4721161" cy="1950242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3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</p:txBody>
      </p:sp>
      <p:sp>
        <p:nvSpPr>
          <p:cNvPr id="14" name="Marcador de texto 6">
            <a:extLst>
              <a:ext uri="{FF2B5EF4-FFF2-40B4-BE49-F238E27FC236}">
                <a16:creationId xmlns:a16="http://schemas.microsoft.com/office/drawing/2014/main" id="{373FDF6B-B8DD-3043-9C53-9BC45BEE99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5089" y="4568825"/>
            <a:ext cx="4688241" cy="118004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100"/>
              </a:spcBef>
              <a:buClr>
                <a:srgbClr val="E65014"/>
              </a:buClr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7" name="Marcador de texto 72">
            <a:extLst>
              <a:ext uri="{FF2B5EF4-FFF2-40B4-BE49-F238E27FC236}">
                <a16:creationId xmlns:a16="http://schemas.microsoft.com/office/drawing/2014/main" id="{56DFAD2A-F2E0-F74A-89E8-ECCE98F861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5089" y="1885739"/>
            <a:ext cx="4721161" cy="3429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párrafo</a:t>
            </a:r>
          </a:p>
        </p:txBody>
      </p:sp>
      <p:sp>
        <p:nvSpPr>
          <p:cNvPr id="18" name="Marcador de texto 72">
            <a:extLst>
              <a:ext uri="{FF2B5EF4-FFF2-40B4-BE49-F238E27FC236}">
                <a16:creationId xmlns:a16="http://schemas.microsoft.com/office/drawing/2014/main" id="{FCAA76A4-2A2C-EE43-9D9B-DF318B0AF2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090" y="2424903"/>
            <a:ext cx="4693536" cy="1950242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3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</p:txBody>
      </p:sp>
      <p:sp>
        <p:nvSpPr>
          <p:cNvPr id="23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4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54D6626-89B3-4C4C-8784-DAC496715A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9393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stacado con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897313D-C409-674E-8D7C-4BC767F8D450}"/>
              </a:ext>
            </a:extLst>
          </p:cNvPr>
          <p:cNvSpPr/>
          <p:nvPr userDrawn="1"/>
        </p:nvSpPr>
        <p:spPr>
          <a:xfrm>
            <a:off x="3196167" y="524933"/>
            <a:ext cx="5799666" cy="5808134"/>
          </a:xfrm>
          <a:prstGeom prst="rect">
            <a:avLst/>
          </a:prstGeom>
          <a:solidFill>
            <a:srgbClr val="E6501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2ECB263B-A541-D54B-9CD6-FDF7BBE2EE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9134" y="1273885"/>
            <a:ext cx="4893732" cy="77685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1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destacado</a:t>
            </a:r>
          </a:p>
        </p:txBody>
      </p:sp>
      <p:sp>
        <p:nvSpPr>
          <p:cNvPr id="14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bg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5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9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41125" y="2633133"/>
            <a:ext cx="4901742" cy="25146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18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volutpatTexto</a:t>
            </a:r>
            <a:r>
              <a:rPr lang="es-ES" dirty="0"/>
              <a:t>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76820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stacado con texto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ipse 16">
            <a:extLst>
              <a:ext uri="{FF2B5EF4-FFF2-40B4-BE49-F238E27FC236}">
                <a16:creationId xmlns:a16="http://schemas.microsoft.com/office/drawing/2014/main" id="{91FC3F3F-F160-B047-9B23-EFEBBA6A3599}"/>
              </a:ext>
            </a:extLst>
          </p:cNvPr>
          <p:cNvSpPr/>
          <p:nvPr userDrawn="1"/>
        </p:nvSpPr>
        <p:spPr>
          <a:xfrm>
            <a:off x="3138309" y="524933"/>
            <a:ext cx="5915383" cy="5808134"/>
          </a:xfrm>
          <a:prstGeom prst="ellipse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1219170">
              <a:defRPr sz="1800">
                <a:latin typeface="+mn-lt"/>
                <a:ea typeface="+mn-ea"/>
                <a:cs typeface="+mn-cs"/>
                <a:sym typeface="Brown-Light"/>
              </a:defRPr>
            </a:pPr>
            <a:endParaRPr lang="es-ES" dirty="0">
              <a:solidFill>
                <a:srgbClr val="E65014"/>
              </a:solidFill>
              <a:latin typeface="Visuelt Pro" panose="020B0503040202040104"/>
            </a:endParaRPr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2ECB263B-A541-D54B-9CD6-FDF7BBE2EE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9134" y="1273885"/>
            <a:ext cx="4893732" cy="77685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100" b="1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destacado</a:t>
            </a:r>
          </a:p>
        </p:txBody>
      </p:sp>
      <p:sp>
        <p:nvSpPr>
          <p:cNvPr id="14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bg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5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7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41125" y="2633133"/>
            <a:ext cx="4901742" cy="25146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1800" b="0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volutpatTexto</a:t>
            </a:r>
            <a:r>
              <a:rPr lang="es-ES" dirty="0"/>
              <a:t>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94466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stacado con texto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mbo 15"/>
          <p:cNvSpPr/>
          <p:nvPr userDrawn="1"/>
        </p:nvSpPr>
        <p:spPr>
          <a:xfrm>
            <a:off x="3173778" y="506778"/>
            <a:ext cx="5844444" cy="5844444"/>
          </a:xfrm>
          <a:prstGeom prst="diamond">
            <a:avLst/>
          </a:prstGeom>
          <a:solidFill>
            <a:srgbClr val="E6501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2ECB263B-A541-D54B-9CD6-FDF7BBE2EE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9134" y="1273885"/>
            <a:ext cx="4893732" cy="77685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1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destacado</a:t>
            </a:r>
          </a:p>
        </p:txBody>
      </p:sp>
      <p:sp>
        <p:nvSpPr>
          <p:cNvPr id="14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bg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5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7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41125" y="2633133"/>
            <a:ext cx="4901742" cy="25146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18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volutpatTexto</a:t>
            </a:r>
            <a:r>
              <a:rPr lang="es-ES" dirty="0"/>
              <a:t>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97523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stacado con texto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xágono 8">
            <a:extLst>
              <a:ext uri="{FF2B5EF4-FFF2-40B4-BE49-F238E27FC236}">
                <a16:creationId xmlns:a16="http://schemas.microsoft.com/office/drawing/2014/main" id="{E7FB3B77-C6E7-694D-B639-9EE4807FD8AE}"/>
              </a:ext>
            </a:extLst>
          </p:cNvPr>
          <p:cNvSpPr/>
          <p:nvPr userDrawn="1"/>
        </p:nvSpPr>
        <p:spPr>
          <a:xfrm>
            <a:off x="2798442" y="586277"/>
            <a:ext cx="6595117" cy="5685446"/>
          </a:xfrm>
          <a:prstGeom prst="hexagon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41125" y="2633133"/>
            <a:ext cx="4901742" cy="25146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1800" b="0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volutpatTexto</a:t>
            </a:r>
            <a:r>
              <a:rPr lang="es-ES" dirty="0"/>
              <a:t>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.</a:t>
            </a:r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2ECB263B-A541-D54B-9CD6-FDF7BBE2EE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9134" y="1273885"/>
            <a:ext cx="4893732" cy="77685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100" b="1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destacado</a:t>
            </a:r>
          </a:p>
        </p:txBody>
      </p:sp>
      <p:sp>
        <p:nvSpPr>
          <p:cNvPr id="14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bg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5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</p:spTree>
    <p:extLst>
      <p:ext uri="{BB962C8B-B14F-4D97-AF65-F5344CB8AC3E}">
        <p14:creationId xmlns:p14="http://schemas.microsoft.com/office/powerpoint/2010/main" val="9411877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izq - Foto 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3D64029-0A92-204A-87B9-1FB3C47A28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23"/>
          <a:stretch/>
        </p:blipFill>
        <p:spPr>
          <a:xfrm>
            <a:off x="6597748" y="0"/>
            <a:ext cx="5615684" cy="6866467"/>
          </a:xfrm>
          <a:prstGeom prst="rect">
            <a:avLst/>
          </a:prstGeom>
        </p:spPr>
      </p:pic>
      <p:sp>
        <p:nvSpPr>
          <p:cNvPr id="8" name="Marcador de texto 25">
            <a:extLst>
              <a:ext uri="{FF2B5EF4-FFF2-40B4-BE49-F238E27FC236}">
                <a16:creationId xmlns:a16="http://schemas.microsoft.com/office/drawing/2014/main" id="{2BDFDAE8-4D7D-7C40-93DC-38873B97E9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7465" y="1903855"/>
            <a:ext cx="5520002" cy="1047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5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DESTACADO</a:t>
            </a:r>
          </a:p>
        </p:txBody>
      </p:sp>
      <p:sp>
        <p:nvSpPr>
          <p:cNvPr id="9" name="Marcador de texto 72">
            <a:extLst>
              <a:ext uri="{FF2B5EF4-FFF2-40B4-BE49-F238E27FC236}">
                <a16:creationId xmlns:a16="http://schemas.microsoft.com/office/drawing/2014/main" id="{7C4D0A1A-0C45-AC42-8BF1-9C0585D4429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9176" y="3346065"/>
            <a:ext cx="5543328" cy="1950242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300" b="0"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54D6626-89B3-4C4C-8784-DAC496715A1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  <p:sp>
        <p:nvSpPr>
          <p:cNvPr id="12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3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</p:spTree>
    <p:extLst>
      <p:ext uri="{BB962C8B-B14F-4D97-AF65-F5344CB8AC3E}">
        <p14:creationId xmlns:p14="http://schemas.microsoft.com/office/powerpoint/2010/main" val="5480239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izq - Foto 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5">
            <a:extLst>
              <a:ext uri="{FF2B5EF4-FFF2-40B4-BE49-F238E27FC236}">
                <a16:creationId xmlns:a16="http://schemas.microsoft.com/office/drawing/2014/main" id="{4600176F-A67F-1C4F-9B01-19EF39884E3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602413" y="-1"/>
            <a:ext cx="5589587" cy="6866467"/>
          </a:xfrm>
          <a:prstGeom prst="rect">
            <a:avLst/>
          </a:prstGeom>
        </p:spPr>
        <p:txBody>
          <a:bodyPr/>
          <a:lstStyle>
            <a:lvl1pPr>
              <a:defRPr>
                <a:latin typeface="Visuelt Pro" panose="020B0503040202040104" pitchFamily="34" charset="0"/>
              </a:defRPr>
            </a:lvl1pPr>
          </a:lstStyle>
          <a:p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70C6720C-1511-414A-BF90-FDBD2BE05A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7465" y="1903855"/>
            <a:ext cx="5520002" cy="1047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5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DESTACADO</a:t>
            </a:r>
          </a:p>
        </p:txBody>
      </p:sp>
      <p:sp>
        <p:nvSpPr>
          <p:cNvPr id="11" name="Marcador de texto 72">
            <a:extLst>
              <a:ext uri="{FF2B5EF4-FFF2-40B4-BE49-F238E27FC236}">
                <a16:creationId xmlns:a16="http://schemas.microsoft.com/office/drawing/2014/main" id="{2AE5EEC3-1C8B-8F4C-B9D9-E28B6D88EA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9176" y="3346065"/>
            <a:ext cx="5543328" cy="1950242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600" b="0"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.</a:t>
            </a:r>
          </a:p>
        </p:txBody>
      </p:sp>
      <p:sp>
        <p:nvSpPr>
          <p:cNvPr id="12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3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54D6626-89B3-4C4C-8784-DAC496715A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6567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72">
            <a:extLst>
              <a:ext uri="{FF2B5EF4-FFF2-40B4-BE49-F238E27FC236}">
                <a16:creationId xmlns:a16="http://schemas.microsoft.com/office/drawing/2014/main" id="{56DFAD2A-F2E0-F74A-89E8-ECCE98F861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089" y="1885739"/>
            <a:ext cx="4721161" cy="3429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párrafo</a:t>
            </a:r>
          </a:p>
        </p:txBody>
      </p:sp>
      <p:sp>
        <p:nvSpPr>
          <p:cNvPr id="2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22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090" y="2424902"/>
            <a:ext cx="4693536" cy="3747297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6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348350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</p:spTree>
    <p:extLst>
      <p:ext uri="{BB962C8B-B14F-4D97-AF65-F5344CB8AC3E}">
        <p14:creationId xmlns:p14="http://schemas.microsoft.com/office/powerpoint/2010/main" val="30442458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5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090" y="2011175"/>
            <a:ext cx="11556390" cy="3498086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6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  <a:p>
            <a:br>
              <a:rPr lang="es-ES" dirty="0"/>
            </a:br>
            <a:endParaRPr lang="es-ES" dirty="0"/>
          </a:p>
          <a:p>
            <a:r>
              <a:rPr lang="es-ES" dirty="0"/>
              <a:t>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802830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izq - Gráfico 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72">
            <a:extLst>
              <a:ext uri="{FF2B5EF4-FFF2-40B4-BE49-F238E27FC236}">
                <a16:creationId xmlns:a16="http://schemas.microsoft.com/office/drawing/2014/main" id="{56DFAD2A-F2E0-F74A-89E8-ECCE98F861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089" y="1885739"/>
            <a:ext cx="4721161" cy="3429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párrafo</a:t>
            </a:r>
          </a:p>
        </p:txBody>
      </p:sp>
      <p:sp>
        <p:nvSpPr>
          <p:cNvPr id="2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22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090" y="2424902"/>
            <a:ext cx="4693536" cy="3747297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6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.</a:t>
            </a:r>
          </a:p>
        </p:txBody>
      </p:sp>
      <p:sp>
        <p:nvSpPr>
          <p:cNvPr id="6" name="Marcador de gráfico 2">
            <a:extLst>
              <a:ext uri="{FF2B5EF4-FFF2-40B4-BE49-F238E27FC236}">
                <a16:creationId xmlns:a16="http://schemas.microsoft.com/office/drawing/2014/main" id="{185F0562-4270-2042-B1D5-CAF7DABDD0A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151563" y="1885739"/>
            <a:ext cx="5345672" cy="4293184"/>
          </a:xfrm>
          <a:prstGeom prst="rect">
            <a:avLst/>
          </a:prstGeom>
        </p:spPr>
        <p:txBody>
          <a:bodyPr/>
          <a:lstStyle>
            <a:lvl1pPr>
              <a:defRPr>
                <a:latin typeface="Visuelt Pro" panose="020B0503040202040104" pitchFamily="34" charset="0"/>
              </a:defRPr>
            </a:lvl1pPr>
          </a:lstStyle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9204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7" name="Marcador de gráfico 2">
            <a:extLst>
              <a:ext uri="{FF2B5EF4-FFF2-40B4-BE49-F238E27FC236}">
                <a16:creationId xmlns:a16="http://schemas.microsoft.com/office/drawing/2014/main" id="{185F0562-4270-2042-B1D5-CAF7DABDD0AF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257464" y="1713870"/>
            <a:ext cx="11705935" cy="4493034"/>
          </a:xfrm>
          <a:prstGeom prst="rect">
            <a:avLst/>
          </a:prstGeom>
        </p:spPr>
        <p:txBody>
          <a:bodyPr/>
          <a:lstStyle>
            <a:lvl1pPr>
              <a:defRPr>
                <a:latin typeface="Visuelt Pro" panose="020B0503040202040104" pitchFamily="34" charset="0"/>
              </a:defRPr>
            </a:lvl1pPr>
          </a:lstStyle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2650565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mbo 4">
            <a:extLst>
              <a:ext uri="{FF2B5EF4-FFF2-40B4-BE49-F238E27FC236}">
                <a16:creationId xmlns:a16="http://schemas.microsoft.com/office/drawing/2014/main" id="{57CD9B45-27E0-CC40-A39C-24FF77A19D3B}"/>
              </a:ext>
            </a:extLst>
          </p:cNvPr>
          <p:cNvSpPr/>
          <p:nvPr userDrawn="1"/>
        </p:nvSpPr>
        <p:spPr>
          <a:xfrm>
            <a:off x="5973945" y="757511"/>
            <a:ext cx="5379180" cy="5297909"/>
          </a:xfrm>
          <a:prstGeom prst="diamon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2"/>
              </a:solidFill>
            </a:endParaRPr>
          </a:p>
        </p:txBody>
      </p:sp>
      <p:sp>
        <p:nvSpPr>
          <p:cNvPr id="6" name="Rombo 5">
            <a:extLst>
              <a:ext uri="{FF2B5EF4-FFF2-40B4-BE49-F238E27FC236}">
                <a16:creationId xmlns:a16="http://schemas.microsoft.com/office/drawing/2014/main" id="{98F20B88-4C42-F449-B1D0-F80BED20EB66}"/>
              </a:ext>
            </a:extLst>
          </p:cNvPr>
          <p:cNvSpPr/>
          <p:nvPr userDrawn="1"/>
        </p:nvSpPr>
        <p:spPr>
          <a:xfrm rot="2700000">
            <a:off x="2289035" y="-2845056"/>
            <a:ext cx="5379180" cy="5297909"/>
          </a:xfrm>
          <a:prstGeom prst="diamon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bg2"/>
              </a:solidFill>
            </a:endParaRPr>
          </a:p>
        </p:txBody>
      </p:sp>
      <p:sp>
        <p:nvSpPr>
          <p:cNvPr id="8" name="Rombo 7">
            <a:extLst>
              <a:ext uri="{FF2B5EF4-FFF2-40B4-BE49-F238E27FC236}">
                <a16:creationId xmlns:a16="http://schemas.microsoft.com/office/drawing/2014/main" id="{9CBCBA42-EC4D-6346-AED1-F59B0909EACA}"/>
              </a:ext>
            </a:extLst>
          </p:cNvPr>
          <p:cNvSpPr/>
          <p:nvPr userDrawn="1"/>
        </p:nvSpPr>
        <p:spPr>
          <a:xfrm rot="2700000">
            <a:off x="9555683" y="4308303"/>
            <a:ext cx="5379180" cy="5297909"/>
          </a:xfrm>
          <a:prstGeom prst="diamon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2"/>
              </a:solidFill>
            </a:endParaRPr>
          </a:p>
        </p:txBody>
      </p:sp>
      <p:sp>
        <p:nvSpPr>
          <p:cNvPr id="2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9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090" y="2011175"/>
            <a:ext cx="11556390" cy="3498086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6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br>
              <a:rPr lang="es-ES" dirty="0"/>
            </a:br>
            <a:endParaRPr lang="es-ES" dirty="0"/>
          </a:p>
          <a:p>
            <a:r>
              <a:rPr lang="es-ES" dirty="0"/>
              <a:t>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01694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mbo 9">
            <a:extLst>
              <a:ext uri="{FF2B5EF4-FFF2-40B4-BE49-F238E27FC236}">
                <a16:creationId xmlns:a16="http://schemas.microsoft.com/office/drawing/2014/main" id="{57CD9B45-27E0-CC40-A39C-24FF77A19D3B}"/>
              </a:ext>
            </a:extLst>
          </p:cNvPr>
          <p:cNvSpPr/>
          <p:nvPr userDrawn="1"/>
        </p:nvSpPr>
        <p:spPr>
          <a:xfrm>
            <a:off x="1550777" y="1"/>
            <a:ext cx="5379180" cy="5297909"/>
          </a:xfrm>
          <a:prstGeom prst="diamon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2"/>
              </a:solidFill>
            </a:endParaRPr>
          </a:p>
        </p:txBody>
      </p:sp>
      <p:sp>
        <p:nvSpPr>
          <p:cNvPr id="11" name="Rombo 10">
            <a:extLst>
              <a:ext uri="{FF2B5EF4-FFF2-40B4-BE49-F238E27FC236}">
                <a16:creationId xmlns:a16="http://schemas.microsoft.com/office/drawing/2014/main" id="{9CBCBA42-EC4D-6346-AED1-F59B0909EACA}"/>
              </a:ext>
            </a:extLst>
          </p:cNvPr>
          <p:cNvSpPr/>
          <p:nvPr userDrawn="1"/>
        </p:nvSpPr>
        <p:spPr>
          <a:xfrm rot="2700000">
            <a:off x="5132515" y="3550793"/>
            <a:ext cx="5379180" cy="5297909"/>
          </a:xfrm>
          <a:prstGeom prst="diamon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2"/>
              </a:solidFill>
            </a:endParaRPr>
          </a:p>
        </p:txBody>
      </p:sp>
      <p:sp>
        <p:nvSpPr>
          <p:cNvPr id="2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9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090" y="2011175"/>
            <a:ext cx="11556390" cy="3498086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6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.</a:t>
            </a:r>
          </a:p>
          <a:p>
            <a:br>
              <a:rPr lang="es-ES" dirty="0"/>
            </a:br>
            <a:endParaRPr lang="es-ES" dirty="0"/>
          </a:p>
          <a:p>
            <a:r>
              <a:rPr lang="es-ES" dirty="0"/>
              <a:t>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20666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/>
          <p:cNvGrpSpPr/>
          <p:nvPr userDrawn="1"/>
        </p:nvGrpSpPr>
        <p:grpSpPr>
          <a:xfrm>
            <a:off x="-13825" y="342381"/>
            <a:ext cx="12250344" cy="6039428"/>
            <a:chOff x="-13825" y="394139"/>
            <a:chExt cx="12250344" cy="6039428"/>
          </a:xfrm>
        </p:grpSpPr>
        <p:sp>
          <p:nvSpPr>
            <p:cNvPr id="8" name="Rectángulo 7"/>
            <p:cNvSpPr/>
            <p:nvPr/>
          </p:nvSpPr>
          <p:spPr>
            <a:xfrm>
              <a:off x="-13825" y="394139"/>
              <a:ext cx="4590518" cy="22866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2" name="Rectángulo 11"/>
            <p:cNvSpPr/>
            <p:nvPr/>
          </p:nvSpPr>
          <p:spPr>
            <a:xfrm rot="5400000">
              <a:off x="3777597" y="2285651"/>
              <a:ext cx="4590518" cy="22866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Rectángulo 12"/>
            <p:cNvSpPr/>
            <p:nvPr/>
          </p:nvSpPr>
          <p:spPr>
            <a:xfrm>
              <a:off x="7646001" y="4146869"/>
              <a:ext cx="4590518" cy="22866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9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090" y="2011175"/>
            <a:ext cx="11556390" cy="3498086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6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  <a:p>
            <a:br>
              <a:rPr lang="es-ES" dirty="0"/>
            </a:br>
            <a:endParaRPr lang="es-ES" dirty="0"/>
          </a:p>
          <a:p>
            <a:r>
              <a:rPr lang="es-ES" dirty="0"/>
              <a:t>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4370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/>
          <p:cNvGrpSpPr/>
          <p:nvPr userDrawn="1"/>
        </p:nvGrpSpPr>
        <p:grpSpPr>
          <a:xfrm>
            <a:off x="-262089" y="-525844"/>
            <a:ext cx="12832355" cy="7780192"/>
            <a:chOff x="1305877" y="625582"/>
            <a:chExt cx="10405529" cy="6074328"/>
          </a:xfrm>
        </p:grpSpPr>
        <p:sp>
          <p:nvSpPr>
            <p:cNvPr id="11" name="Rectángulo redondeado 10"/>
            <p:cNvSpPr/>
            <p:nvPr/>
          </p:nvSpPr>
          <p:spPr>
            <a:xfrm>
              <a:off x="1305877" y="625582"/>
              <a:ext cx="3110946" cy="214770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Rectángulo redondeado 13"/>
            <p:cNvSpPr/>
            <p:nvPr/>
          </p:nvSpPr>
          <p:spPr>
            <a:xfrm rot="5400000">
              <a:off x="4591316" y="3082454"/>
              <a:ext cx="3110946" cy="214770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Rectángulo redondeado 14"/>
            <p:cNvSpPr/>
            <p:nvPr/>
          </p:nvSpPr>
          <p:spPr>
            <a:xfrm>
              <a:off x="8600460" y="4552206"/>
              <a:ext cx="3110946" cy="214770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9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090" y="2011175"/>
            <a:ext cx="11556390" cy="3498086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6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  <a:p>
            <a:br>
              <a:rPr lang="es-ES" dirty="0"/>
            </a:br>
            <a:endParaRPr lang="es-ES" dirty="0"/>
          </a:p>
          <a:p>
            <a:r>
              <a:rPr lang="es-ES" dirty="0"/>
              <a:t>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36327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/>
          <p:cNvGrpSpPr/>
          <p:nvPr userDrawn="1"/>
        </p:nvGrpSpPr>
        <p:grpSpPr>
          <a:xfrm>
            <a:off x="-405775" y="-502629"/>
            <a:ext cx="12923973" cy="7935599"/>
            <a:chOff x="-405775" y="-502629"/>
            <a:chExt cx="12923973" cy="7935599"/>
          </a:xfrm>
        </p:grpSpPr>
        <p:sp>
          <p:nvSpPr>
            <p:cNvPr id="11" name="Elipse 10"/>
            <p:cNvSpPr/>
            <p:nvPr/>
          </p:nvSpPr>
          <p:spPr>
            <a:xfrm>
              <a:off x="-405775" y="-502629"/>
              <a:ext cx="3853868" cy="385386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Elipse 13"/>
            <p:cNvSpPr/>
            <p:nvPr/>
          </p:nvSpPr>
          <p:spPr>
            <a:xfrm>
              <a:off x="4240504" y="1652168"/>
              <a:ext cx="3853868" cy="385386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Elipse 14"/>
            <p:cNvSpPr/>
            <p:nvPr/>
          </p:nvSpPr>
          <p:spPr>
            <a:xfrm>
              <a:off x="8664330" y="3579102"/>
              <a:ext cx="3853868" cy="385386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9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090" y="2011175"/>
            <a:ext cx="11556390" cy="3498086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6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/>
              <a:t>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46743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 userDrawn="1"/>
        </p:nvGrpSpPr>
        <p:grpSpPr>
          <a:xfrm>
            <a:off x="-814730" y="-893590"/>
            <a:ext cx="13835020" cy="8753026"/>
            <a:chOff x="-814730" y="-893590"/>
            <a:chExt cx="13835020" cy="8753026"/>
          </a:xfrm>
        </p:grpSpPr>
        <p:sp>
          <p:nvSpPr>
            <p:cNvPr id="12" name="Rombo 11">
              <a:extLst>
                <a:ext uri="{FF2B5EF4-FFF2-40B4-BE49-F238E27FC236}">
                  <a16:creationId xmlns:a16="http://schemas.microsoft.com/office/drawing/2014/main" id="{57CD9B45-27E0-CC40-A39C-24FF77A19D3B}"/>
                </a:ext>
              </a:extLst>
            </p:cNvPr>
            <p:cNvSpPr/>
            <p:nvPr userDrawn="1"/>
          </p:nvSpPr>
          <p:spPr>
            <a:xfrm rot="2700000">
              <a:off x="-849750" y="-858570"/>
              <a:ext cx="4635791" cy="4565751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bg2"/>
                </a:solidFill>
              </a:endParaRPr>
            </a:p>
          </p:txBody>
        </p:sp>
        <p:sp>
          <p:nvSpPr>
            <p:cNvPr id="13" name="Rombo 12">
              <a:extLst>
                <a:ext uri="{FF2B5EF4-FFF2-40B4-BE49-F238E27FC236}">
                  <a16:creationId xmlns:a16="http://schemas.microsoft.com/office/drawing/2014/main" id="{57CD9B45-27E0-CC40-A39C-24FF77A19D3B}"/>
                </a:ext>
              </a:extLst>
            </p:cNvPr>
            <p:cNvSpPr/>
            <p:nvPr userDrawn="1"/>
          </p:nvSpPr>
          <p:spPr>
            <a:xfrm rot="631312">
              <a:off x="3847568" y="1155160"/>
              <a:ext cx="4635791" cy="4565751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bg2"/>
                </a:solidFill>
              </a:endParaRPr>
            </a:p>
          </p:txBody>
        </p:sp>
        <p:sp>
          <p:nvSpPr>
            <p:cNvPr id="16" name="Rombo 15">
              <a:extLst>
                <a:ext uri="{FF2B5EF4-FFF2-40B4-BE49-F238E27FC236}">
                  <a16:creationId xmlns:a16="http://schemas.microsoft.com/office/drawing/2014/main" id="{57CD9B45-27E0-CC40-A39C-24FF77A19D3B}"/>
                </a:ext>
              </a:extLst>
            </p:cNvPr>
            <p:cNvSpPr/>
            <p:nvPr userDrawn="1"/>
          </p:nvSpPr>
          <p:spPr>
            <a:xfrm rot="2700000">
              <a:off x="8419519" y="3258665"/>
              <a:ext cx="4635791" cy="4565751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bg2"/>
                </a:solidFill>
              </a:endParaRPr>
            </a:p>
          </p:txBody>
        </p:sp>
      </p:grpSp>
      <p:sp>
        <p:nvSpPr>
          <p:cNvPr id="2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9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090" y="2011175"/>
            <a:ext cx="11556390" cy="3498086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6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  <a:p>
            <a:endParaRPr lang="es-ES" dirty="0"/>
          </a:p>
          <a:p>
            <a:r>
              <a:rPr lang="es-ES" dirty="0"/>
              <a:t>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9790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9.xml"/><Relationship Id="rId3" Type="http://schemas.openxmlformats.org/officeDocument/2006/relationships/slideLayout" Target="../slideLayouts/slideLayout6.xml"/><Relationship Id="rId21" Type="http://schemas.openxmlformats.org/officeDocument/2006/relationships/slideLayout" Target="../slideLayouts/slideLayout24.xml"/><Relationship Id="rId34" Type="http://schemas.openxmlformats.org/officeDocument/2006/relationships/slideLayout" Target="../slideLayouts/slideLayout37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3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29" Type="http://schemas.openxmlformats.org/officeDocument/2006/relationships/slideLayout" Target="../slideLayouts/slideLayout32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32" Type="http://schemas.openxmlformats.org/officeDocument/2006/relationships/slideLayout" Target="../slideLayouts/slideLayout35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31.xml"/><Relationship Id="rId36" Type="http://schemas.openxmlformats.org/officeDocument/2006/relationships/image" Target="../media/image3.png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31" Type="http://schemas.openxmlformats.org/officeDocument/2006/relationships/slideLayout" Target="../slideLayouts/slideLayout34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33.xml"/><Relationship Id="rId35" Type="http://schemas.openxmlformats.org/officeDocument/2006/relationships/theme" Target="../theme/theme2.xml"/><Relationship Id="rId8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6947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8" r:id="rId3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25">
            <a:extLst>
              <a:ext uri="{FF2B5EF4-FFF2-40B4-BE49-F238E27FC236}">
                <a16:creationId xmlns:a16="http://schemas.microsoft.com/office/drawing/2014/main" id="{776F372C-FA44-BC4A-802E-1F501B309279}"/>
              </a:ext>
            </a:extLst>
          </p:cNvPr>
          <p:cNvSpPr txBox="1">
            <a:spLocks/>
          </p:cNvSpPr>
          <p:nvPr userDrawn="1"/>
        </p:nvSpPr>
        <p:spPr>
          <a:xfrm>
            <a:off x="328160" y="6392630"/>
            <a:ext cx="4114249" cy="276999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Visuelt Pro" panose="020B05030402020401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Subtítulo presentación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54D6626-89B3-4C4C-8784-DAC496715A14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003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84" r:id="rId4"/>
    <p:sldLayoutId id="2147483689" r:id="rId5"/>
    <p:sldLayoutId id="2147483690" r:id="rId6"/>
    <p:sldLayoutId id="2147483692" r:id="rId7"/>
    <p:sldLayoutId id="2147483693" r:id="rId8"/>
    <p:sldLayoutId id="2147483695" r:id="rId9"/>
    <p:sldLayoutId id="2147483694" r:id="rId10"/>
    <p:sldLayoutId id="2147483683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656" r:id="rId17"/>
    <p:sldLayoutId id="2147483657" r:id="rId18"/>
    <p:sldLayoutId id="2147483672" r:id="rId19"/>
    <p:sldLayoutId id="2147483675" r:id="rId20"/>
    <p:sldLayoutId id="2147483674" r:id="rId21"/>
    <p:sldLayoutId id="2147483658" r:id="rId22"/>
    <p:sldLayoutId id="2147483662" r:id="rId23"/>
    <p:sldLayoutId id="2147483663" r:id="rId24"/>
    <p:sldLayoutId id="2147483664" r:id="rId25"/>
    <p:sldLayoutId id="2147483686" r:id="rId26"/>
    <p:sldLayoutId id="2147483665" r:id="rId27"/>
    <p:sldLayoutId id="2147483666" r:id="rId28"/>
    <p:sldLayoutId id="2147483676" r:id="rId29"/>
    <p:sldLayoutId id="2147483677" r:id="rId30"/>
    <p:sldLayoutId id="2147483678" r:id="rId31"/>
    <p:sldLayoutId id="2147483702" r:id="rId32"/>
    <p:sldLayoutId id="2147483679" r:id="rId33"/>
    <p:sldLayoutId id="2147483680" r:id="rId34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4.jp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10"/>
          </p:nvPr>
        </p:nvSpPr>
        <p:spPr>
          <a:xfrm>
            <a:off x="446893" y="325097"/>
            <a:ext cx="11080089" cy="902393"/>
          </a:xfrm>
        </p:spPr>
        <p:txBody>
          <a:bodyPr wrap="square" lIns="0" tIns="0" rIns="0" bIns="0" anchor="t"/>
          <a:lstStyle/>
          <a:p>
            <a:r>
              <a:rPr lang="es-ES" sz="4800" dirty="0"/>
              <a:t>Aprendizaje Continuo y Adaptación en Tiempo Real para Robots Móviles en Entornos Bancarios</a:t>
            </a:r>
          </a:p>
        </p:txBody>
      </p:sp>
    </p:spTree>
    <p:extLst>
      <p:ext uri="{BB962C8B-B14F-4D97-AF65-F5344CB8AC3E}">
        <p14:creationId xmlns:p14="http://schemas.microsoft.com/office/powerpoint/2010/main" val="3459278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26CF825-FE6F-0100-1370-172D7C332154}"/>
              </a:ext>
            </a:extLst>
          </p:cNvPr>
          <p:cNvSpPr txBox="1"/>
          <p:nvPr/>
        </p:nvSpPr>
        <p:spPr>
          <a:xfrm>
            <a:off x="244512" y="1461654"/>
            <a:ext cx="5505123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dirty="0">
                <a:solidFill>
                  <a:schemeClr val="accent6">
                    <a:lumMod val="50000"/>
                  </a:schemeClr>
                </a:solidFill>
                <a:effectLst/>
              </a:rPr>
              <a:t>01</a:t>
            </a:r>
            <a:r>
              <a:rPr lang="es-ES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s-ES" sz="2000" b="1" dirty="0">
                <a:solidFill>
                  <a:schemeClr val="accent6">
                    <a:lumMod val="50000"/>
                  </a:schemeClr>
                </a:solidFill>
                <a:effectLst/>
              </a:rPr>
              <a:t>Introducción y Planteamiento del Problema</a:t>
            </a:r>
            <a:endParaRPr lang="es-ES" sz="20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just"/>
            <a:r>
              <a:rPr lang="es-ES" dirty="0">
                <a:solidFill>
                  <a:schemeClr val="accent6">
                    <a:lumMod val="50000"/>
                  </a:schemeClr>
                </a:solidFill>
                <a:effectLst/>
              </a:rPr>
              <a:t>Entornos dinámicos, enfoques clásicos y necesidades</a:t>
            </a:r>
            <a:r>
              <a:rPr lang="es-ES" b="1" dirty="0">
                <a:solidFill>
                  <a:schemeClr val="accent6">
                    <a:lumMod val="50000"/>
                  </a:schemeClr>
                </a:solidFill>
              </a:rPr>
              <a:t>.</a:t>
            </a:r>
            <a:endParaRPr lang="es-ES" b="1" dirty="0">
              <a:solidFill>
                <a:schemeClr val="accent6">
                  <a:lumMod val="50000"/>
                </a:schemeClr>
              </a:solidFill>
              <a:effectLst/>
            </a:endParaRPr>
          </a:p>
          <a:p>
            <a:pPr algn="just"/>
            <a:endParaRPr lang="es-ES" b="1" dirty="0">
              <a:solidFill>
                <a:schemeClr val="accent6">
                  <a:lumMod val="50000"/>
                </a:schemeClr>
              </a:solidFill>
              <a:effectLst/>
            </a:endParaRPr>
          </a:p>
          <a:p>
            <a:pPr algn="just"/>
            <a:r>
              <a:rPr lang="es-ES" sz="2000" b="1" dirty="0">
                <a:solidFill>
                  <a:schemeClr val="accent6">
                    <a:lumMod val="50000"/>
                  </a:schemeClr>
                </a:solidFill>
                <a:effectLst/>
              </a:rPr>
              <a:t>02 Objetivos</a:t>
            </a:r>
            <a:endParaRPr lang="es-ES" sz="20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just"/>
            <a:r>
              <a:rPr lang="es-ES" dirty="0">
                <a:solidFill>
                  <a:schemeClr val="accent6">
                    <a:lumMod val="50000"/>
                  </a:schemeClr>
                </a:solidFill>
                <a:effectLst/>
              </a:rPr>
              <a:t>Objetivo general y metas específicas del estudio.</a:t>
            </a:r>
          </a:p>
          <a:p>
            <a:pPr algn="just"/>
            <a:endParaRPr lang="es-ES" b="1" dirty="0">
              <a:solidFill>
                <a:schemeClr val="accent6">
                  <a:lumMod val="50000"/>
                </a:schemeClr>
              </a:solidFill>
              <a:effectLst/>
            </a:endParaRPr>
          </a:p>
          <a:p>
            <a:pPr algn="just"/>
            <a:r>
              <a:rPr lang="es-ES" sz="2000" b="1" dirty="0">
                <a:solidFill>
                  <a:schemeClr val="accent6">
                    <a:lumMod val="50000"/>
                  </a:schemeClr>
                </a:solidFill>
                <a:effectLst/>
              </a:rPr>
              <a:t>03</a:t>
            </a:r>
            <a:r>
              <a:rPr lang="es-ES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s-ES" sz="2000" b="1" dirty="0">
                <a:solidFill>
                  <a:schemeClr val="accent6">
                    <a:lumMod val="50000"/>
                  </a:schemeClr>
                </a:solidFill>
                <a:effectLst/>
              </a:rPr>
              <a:t>Marco Conceptual y Estado del Arte</a:t>
            </a:r>
          </a:p>
          <a:p>
            <a:pPr algn="just"/>
            <a:r>
              <a:rPr lang="es-ES" b="0" dirty="0">
                <a:solidFill>
                  <a:schemeClr val="accent6">
                    <a:lumMod val="50000"/>
                  </a:schemeClr>
                </a:solidFill>
                <a:effectLst/>
              </a:rPr>
              <a:t>Algoritmo SAC, aprendizaje continuo y olvido catastrófico.</a:t>
            </a:r>
          </a:p>
          <a:p>
            <a:pPr lvl="1" algn="just"/>
            <a:endParaRPr lang="es-ES" b="0" dirty="0">
              <a:solidFill>
                <a:schemeClr val="accent6">
                  <a:lumMod val="50000"/>
                </a:schemeClr>
              </a:solidFill>
              <a:effectLst/>
            </a:endParaRPr>
          </a:p>
          <a:p>
            <a:pPr algn="just"/>
            <a:r>
              <a:rPr lang="es-ES" sz="2000" b="1" dirty="0">
                <a:solidFill>
                  <a:schemeClr val="accent6">
                    <a:lumMod val="50000"/>
                  </a:schemeClr>
                </a:solidFill>
                <a:effectLst/>
              </a:rPr>
              <a:t>04 Metodología</a:t>
            </a:r>
            <a:endParaRPr lang="es-ES" sz="20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just"/>
            <a:r>
              <a:rPr lang="es-ES" b="0" dirty="0">
                <a:solidFill>
                  <a:schemeClr val="accent6">
                    <a:lumMod val="50000"/>
                  </a:schemeClr>
                </a:solidFill>
                <a:effectLst/>
              </a:rPr>
              <a:t>Etapas, entorno de simulación, </a:t>
            </a:r>
            <a:r>
              <a:rPr lang="es-ES" b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dataset</a:t>
            </a:r>
            <a:r>
              <a:rPr lang="es-ES" b="0" dirty="0">
                <a:solidFill>
                  <a:schemeClr val="accent6">
                    <a:lumMod val="50000"/>
                  </a:schemeClr>
                </a:solidFill>
                <a:effectLst/>
              </a:rPr>
              <a:t>, modelos DRL, </a:t>
            </a:r>
            <a:br>
              <a:rPr lang="es-ES" b="0" dirty="0">
                <a:solidFill>
                  <a:schemeClr val="accent6">
                    <a:lumMod val="50000"/>
                  </a:schemeClr>
                </a:solidFill>
                <a:effectLst/>
              </a:rPr>
            </a:br>
            <a:r>
              <a:rPr lang="es-ES" b="0" dirty="0">
                <a:solidFill>
                  <a:schemeClr val="accent6">
                    <a:lumMod val="50000"/>
                  </a:schemeClr>
                </a:solidFill>
                <a:effectLst/>
              </a:rPr>
              <a:t>entrenamiento y métricas.</a:t>
            </a:r>
          </a:p>
          <a:p>
            <a:endParaRPr lang="es-ES" b="1" dirty="0">
              <a:solidFill>
                <a:srgbClr val="1A3A52"/>
              </a:solidFill>
              <a:effectLst/>
            </a:endParaRPr>
          </a:p>
          <a:p>
            <a:endParaRPr lang="es-ES" b="0" dirty="0">
              <a:solidFill>
                <a:srgbClr val="666666"/>
              </a:solidFill>
              <a:effectLst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2276568-FC69-7604-0950-0BE6F670ACFD}"/>
              </a:ext>
            </a:extLst>
          </p:cNvPr>
          <p:cNvSpPr txBox="1"/>
          <p:nvPr/>
        </p:nvSpPr>
        <p:spPr>
          <a:xfrm>
            <a:off x="6622473" y="1305341"/>
            <a:ext cx="541712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dirty="0">
                <a:solidFill>
                  <a:schemeClr val="accent6">
                    <a:lumMod val="50000"/>
                  </a:schemeClr>
                </a:solidFill>
                <a:effectLst/>
              </a:rPr>
              <a:t>05 Resultados</a:t>
            </a:r>
          </a:p>
          <a:p>
            <a:pPr algn="just"/>
            <a:r>
              <a:rPr lang="es-ES" b="0" dirty="0">
                <a:solidFill>
                  <a:schemeClr val="accent6">
                    <a:lumMod val="50000"/>
                  </a:schemeClr>
                </a:solidFill>
                <a:effectLst/>
              </a:rPr>
              <a:t>Curvas de aprendizaje, evaluación de métricas y ejemplos.</a:t>
            </a:r>
          </a:p>
          <a:p>
            <a:pPr algn="just"/>
            <a:endParaRPr lang="es-ES" b="1" dirty="0">
              <a:solidFill>
                <a:schemeClr val="accent6">
                  <a:lumMod val="50000"/>
                </a:schemeClr>
              </a:solidFill>
              <a:effectLst/>
            </a:endParaRPr>
          </a:p>
          <a:p>
            <a:pPr algn="just"/>
            <a:r>
              <a:rPr lang="es-ES" sz="2000" b="1" dirty="0">
                <a:solidFill>
                  <a:schemeClr val="accent6">
                    <a:lumMod val="50000"/>
                  </a:schemeClr>
                </a:solidFill>
                <a:effectLst/>
              </a:rPr>
              <a:t>06 Discusión de Resultados</a:t>
            </a:r>
          </a:p>
          <a:p>
            <a:pPr algn="just"/>
            <a:r>
              <a:rPr lang="es-ES" b="0" dirty="0">
                <a:solidFill>
                  <a:schemeClr val="accent6">
                    <a:lumMod val="50000"/>
                  </a:schemeClr>
                </a:solidFill>
                <a:effectLst/>
              </a:rPr>
              <a:t>Análisis relevante y comparativa con el estado del arte.</a:t>
            </a:r>
          </a:p>
          <a:p>
            <a:pPr algn="just"/>
            <a:endParaRPr lang="es-ES" b="1" dirty="0">
              <a:solidFill>
                <a:schemeClr val="accent6">
                  <a:lumMod val="50000"/>
                </a:schemeClr>
              </a:solidFill>
              <a:effectLst/>
            </a:endParaRPr>
          </a:p>
          <a:p>
            <a:pPr algn="just"/>
            <a:r>
              <a:rPr lang="es-ES" sz="2000" b="1" dirty="0">
                <a:solidFill>
                  <a:schemeClr val="accent6">
                    <a:lumMod val="50000"/>
                  </a:schemeClr>
                </a:solidFill>
                <a:effectLst/>
              </a:rPr>
              <a:t>07 Conclusiones</a:t>
            </a:r>
          </a:p>
          <a:p>
            <a:pPr algn="just"/>
            <a:r>
              <a:rPr lang="es-ES" b="0" dirty="0">
                <a:solidFill>
                  <a:schemeClr val="accent6">
                    <a:lumMod val="50000"/>
                  </a:schemeClr>
                </a:solidFill>
                <a:effectLst/>
              </a:rPr>
              <a:t>Hallazgos principales y limitaciones del estudio.</a:t>
            </a:r>
          </a:p>
          <a:p>
            <a:pPr algn="just"/>
            <a:endParaRPr lang="es-ES" b="1" dirty="0">
              <a:solidFill>
                <a:schemeClr val="accent6">
                  <a:lumMod val="50000"/>
                </a:schemeClr>
              </a:solidFill>
              <a:effectLst/>
            </a:endParaRPr>
          </a:p>
          <a:p>
            <a:pPr algn="just"/>
            <a:r>
              <a:rPr lang="es-ES" sz="2000" b="1" dirty="0">
                <a:solidFill>
                  <a:schemeClr val="accent6">
                    <a:lumMod val="50000"/>
                  </a:schemeClr>
                </a:solidFill>
                <a:effectLst/>
              </a:rPr>
              <a:t>08 Trabajo Futuro</a:t>
            </a:r>
          </a:p>
          <a:p>
            <a:pPr algn="just"/>
            <a:r>
              <a:rPr lang="es-ES" b="0" dirty="0">
                <a:solidFill>
                  <a:schemeClr val="accent6">
                    <a:lumMod val="50000"/>
                  </a:schemeClr>
                </a:solidFill>
                <a:effectLst/>
              </a:rPr>
              <a:t>Brecha Sim-</a:t>
            </a:r>
            <a:r>
              <a:rPr lang="es-ES" b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to</a:t>
            </a:r>
            <a:r>
              <a:rPr lang="es-ES" b="0" dirty="0">
                <a:solidFill>
                  <a:schemeClr val="accent6">
                    <a:lumMod val="50000"/>
                  </a:schemeClr>
                </a:solidFill>
                <a:effectLst/>
              </a:rPr>
              <a:t>-Real, integración visual y modelos MARL.</a:t>
            </a:r>
          </a:p>
          <a:p>
            <a:pPr algn="just"/>
            <a:endParaRPr lang="es-ES" b="1" dirty="0">
              <a:solidFill>
                <a:schemeClr val="accent6">
                  <a:lumMod val="50000"/>
                </a:schemeClr>
              </a:solidFill>
              <a:effectLst/>
            </a:endParaRPr>
          </a:p>
          <a:p>
            <a:pPr algn="just"/>
            <a:r>
              <a:rPr lang="es-ES" sz="2000" b="1" dirty="0">
                <a:solidFill>
                  <a:schemeClr val="accent6">
                    <a:lumMod val="50000"/>
                  </a:schemeClr>
                </a:solidFill>
                <a:effectLst/>
              </a:rPr>
              <a:t>09</a:t>
            </a:r>
            <a:r>
              <a:rPr lang="es-ES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s-ES" sz="2000" b="1" dirty="0">
                <a:solidFill>
                  <a:schemeClr val="accent6">
                    <a:lumMod val="50000"/>
                  </a:schemeClr>
                </a:solidFill>
                <a:effectLst/>
              </a:rPr>
              <a:t>Cierre y Preguntas</a:t>
            </a:r>
          </a:p>
          <a:p>
            <a:pPr algn="just"/>
            <a:r>
              <a:rPr lang="es-ES" b="0" dirty="0">
                <a:solidFill>
                  <a:schemeClr val="accent6">
                    <a:lumMod val="50000"/>
                  </a:schemeClr>
                </a:solidFill>
                <a:effectLst/>
              </a:rPr>
              <a:t>Fin de la exposición y apertura al tribunal</a:t>
            </a:r>
            <a:endParaRPr lang="es-EC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Marcador de texto 1">
            <a:extLst>
              <a:ext uri="{FF2B5EF4-FFF2-40B4-BE49-F238E27FC236}">
                <a16:creationId xmlns:a16="http://schemas.microsoft.com/office/drawing/2014/main" id="{15946892-5416-6F5D-0F16-9AA5DB2B28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4512" y="200762"/>
            <a:ext cx="11415107" cy="948267"/>
          </a:xfrm>
        </p:spPr>
        <p:txBody>
          <a:bodyPr/>
          <a:lstStyle/>
          <a:p>
            <a:r>
              <a:rPr lang="es-ES" sz="4400" dirty="0"/>
              <a:t>Índice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8267796-F5C1-4B71-91DD-48D13B93A847}"/>
              </a:ext>
            </a:extLst>
          </p:cNvPr>
          <p:cNvCxnSpPr/>
          <p:nvPr/>
        </p:nvCxnSpPr>
        <p:spPr>
          <a:xfrm>
            <a:off x="6151419" y="1149029"/>
            <a:ext cx="0" cy="5099371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425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0058E0A7-40B2-5C7F-332F-CB517C528320}"/>
              </a:ext>
            </a:extLst>
          </p:cNvPr>
          <p:cNvSpPr txBox="1">
            <a:spLocks/>
          </p:cNvSpPr>
          <p:nvPr/>
        </p:nvSpPr>
        <p:spPr>
          <a:xfrm>
            <a:off x="242053" y="518813"/>
            <a:ext cx="9814791" cy="52364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100" b="1" i="0" kern="1200">
                <a:solidFill>
                  <a:schemeClr val="tx1"/>
                </a:solidFill>
                <a:latin typeface="Periodico Display Rg" panose="02000504080000020004" pitchFamily="50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Introducción y planteamiento del problema</a:t>
            </a:r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93F997D4-53D5-3F9A-0A78-CD8335098F78}"/>
              </a:ext>
            </a:extLst>
          </p:cNvPr>
          <p:cNvSpPr txBox="1">
            <a:spLocks/>
          </p:cNvSpPr>
          <p:nvPr/>
        </p:nvSpPr>
        <p:spPr>
          <a:xfrm>
            <a:off x="242053" y="236730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Visuelt Pro" panose="020B05030402020401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01 - Introducción y planteamiento del problema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3654EEC-7912-4B96-5E9A-D4637C2E3EDC}"/>
              </a:ext>
            </a:extLst>
          </p:cNvPr>
          <p:cNvSpPr txBox="1"/>
          <p:nvPr/>
        </p:nvSpPr>
        <p:spPr>
          <a:xfrm>
            <a:off x="359553" y="1100822"/>
            <a:ext cx="10069040" cy="92333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Los robots de servicio en agencias bancarias deben navegar entre cajeros, ventanillas y áreas de atención en entornos dinámicos con personas en movimiento sin mapas actualizados ni intervención humana. </a:t>
            </a:r>
          </a:p>
        </p:txBody>
      </p:sp>
      <p:sp>
        <p:nvSpPr>
          <p:cNvPr id="24" name="Google Shape;61;p5">
            <a:extLst>
              <a:ext uri="{FF2B5EF4-FFF2-40B4-BE49-F238E27FC236}">
                <a16:creationId xmlns:a16="http://schemas.microsoft.com/office/drawing/2014/main" id="{5A89B55B-CC6D-40B5-4A23-2863298FE44D}"/>
              </a:ext>
            </a:extLst>
          </p:cNvPr>
          <p:cNvSpPr/>
          <p:nvPr/>
        </p:nvSpPr>
        <p:spPr>
          <a:xfrm>
            <a:off x="7427276" y="2818747"/>
            <a:ext cx="41148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5" name="Google Shape;62;p5">
            <a:extLst>
              <a:ext uri="{FF2B5EF4-FFF2-40B4-BE49-F238E27FC236}">
                <a16:creationId xmlns:a16="http://schemas.microsoft.com/office/drawing/2014/main" id="{7AD18217-A4F7-81B1-6444-5B4738081B0F}"/>
              </a:ext>
            </a:extLst>
          </p:cNvPr>
          <p:cNvSpPr/>
          <p:nvPr/>
        </p:nvSpPr>
        <p:spPr>
          <a:xfrm>
            <a:off x="7427276" y="2818747"/>
            <a:ext cx="81012" cy="1097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6" name="Google Shape;63;p5">
            <a:extLst>
              <a:ext uri="{FF2B5EF4-FFF2-40B4-BE49-F238E27FC236}">
                <a16:creationId xmlns:a16="http://schemas.microsoft.com/office/drawing/2014/main" id="{4D34C575-0735-FC03-01B0-326B9FBF6925}"/>
              </a:ext>
            </a:extLst>
          </p:cNvPr>
          <p:cNvSpPr/>
          <p:nvPr/>
        </p:nvSpPr>
        <p:spPr>
          <a:xfrm>
            <a:off x="7564436" y="2864466"/>
            <a:ext cx="4253112" cy="2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7189"/>
              </a:buClr>
              <a:buSzPts val="1100"/>
              <a:buFont typeface="Calibri"/>
              <a:buNone/>
            </a:pPr>
            <a:r>
              <a:rPr lang="en-US" sz="1600" b="1" i="0" u="none" strike="noStrike" cap="none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Discrepancia modelo–realidad</a:t>
            </a:r>
            <a:endParaRPr sz="1600" b="0" i="0" u="none" strike="noStrike" cap="none">
              <a:solidFill>
                <a:schemeClr val="accent6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64;p5">
            <a:extLst>
              <a:ext uri="{FF2B5EF4-FFF2-40B4-BE49-F238E27FC236}">
                <a16:creationId xmlns:a16="http://schemas.microsoft.com/office/drawing/2014/main" id="{9CDBE8CF-8A84-413E-6476-EE9540B7F8B3}"/>
              </a:ext>
            </a:extLst>
          </p:cNvPr>
          <p:cNvSpPr/>
          <p:nvPr/>
        </p:nvSpPr>
        <p:spPr>
          <a:xfrm>
            <a:off x="7564436" y="3138786"/>
            <a:ext cx="4253112" cy="686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cinemático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idealizado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captura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derrapes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retrasos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ni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asimetría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ruedas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65;p5">
            <a:extLst>
              <a:ext uri="{FF2B5EF4-FFF2-40B4-BE49-F238E27FC236}">
                <a16:creationId xmlns:a16="http://schemas.microsoft.com/office/drawing/2014/main" id="{A48FC4FB-E6FB-5241-9825-D821B7039F51}"/>
              </a:ext>
            </a:extLst>
          </p:cNvPr>
          <p:cNvSpPr/>
          <p:nvPr/>
        </p:nvSpPr>
        <p:spPr>
          <a:xfrm>
            <a:off x="7427276" y="4007467"/>
            <a:ext cx="4556906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9" name="Google Shape;67;p5">
            <a:extLst>
              <a:ext uri="{FF2B5EF4-FFF2-40B4-BE49-F238E27FC236}">
                <a16:creationId xmlns:a16="http://schemas.microsoft.com/office/drawing/2014/main" id="{51971723-3AD2-6585-E0F2-3AEA45DAE193}"/>
              </a:ext>
            </a:extLst>
          </p:cNvPr>
          <p:cNvSpPr/>
          <p:nvPr/>
        </p:nvSpPr>
        <p:spPr>
          <a:xfrm>
            <a:off x="7564436" y="4053186"/>
            <a:ext cx="4253112" cy="2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7189"/>
              </a:buClr>
              <a:buSzPts val="1100"/>
              <a:buFont typeface="Calibri"/>
              <a:buNone/>
            </a:pPr>
            <a:r>
              <a:rPr lang="en-US" sz="1600" b="1" i="0" u="none" strike="noStrike" cap="none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Aprendizaje multi-objetivo desbalanceado</a:t>
            </a:r>
            <a:endParaRPr sz="1600" b="0" i="0" u="none" strike="noStrike" cap="none">
              <a:solidFill>
                <a:schemeClr val="accent6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68;p5">
            <a:extLst>
              <a:ext uri="{FF2B5EF4-FFF2-40B4-BE49-F238E27FC236}">
                <a16:creationId xmlns:a16="http://schemas.microsoft.com/office/drawing/2014/main" id="{119800F1-7E52-7E8D-23D3-305169884E84}"/>
              </a:ext>
            </a:extLst>
          </p:cNvPr>
          <p:cNvSpPr/>
          <p:nvPr/>
        </p:nvSpPr>
        <p:spPr>
          <a:xfrm>
            <a:off x="7564436" y="4327506"/>
            <a:ext cx="4253112" cy="686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lang="en-US" sz="16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Tendencia a especializarse en POIs más cercanos al punto de spawn.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69;p5">
            <a:extLst>
              <a:ext uri="{FF2B5EF4-FFF2-40B4-BE49-F238E27FC236}">
                <a16:creationId xmlns:a16="http://schemas.microsoft.com/office/drawing/2014/main" id="{D5F4939B-5536-F30F-D6E1-BEEB18E81862}"/>
              </a:ext>
            </a:extLst>
          </p:cNvPr>
          <p:cNvSpPr/>
          <p:nvPr/>
        </p:nvSpPr>
        <p:spPr>
          <a:xfrm>
            <a:off x="7427276" y="5196187"/>
            <a:ext cx="4556906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2" name="Google Shape;71;p5">
            <a:extLst>
              <a:ext uri="{FF2B5EF4-FFF2-40B4-BE49-F238E27FC236}">
                <a16:creationId xmlns:a16="http://schemas.microsoft.com/office/drawing/2014/main" id="{C7BD694B-36E0-ED46-AF92-FD8B36834A34}"/>
              </a:ext>
            </a:extLst>
          </p:cNvPr>
          <p:cNvSpPr/>
          <p:nvPr/>
        </p:nvSpPr>
        <p:spPr>
          <a:xfrm>
            <a:off x="7564436" y="5241906"/>
            <a:ext cx="4253112" cy="2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7189"/>
              </a:buClr>
              <a:buSzPts val="1100"/>
              <a:buFont typeface="Calibri"/>
              <a:buNone/>
            </a:pPr>
            <a:r>
              <a:rPr lang="en-US" sz="1600" b="1" i="0" u="none" strike="noStrike" cap="none" dirty="0" err="1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Integración</a:t>
            </a:r>
            <a:r>
              <a:rPr lang="en-US" sz="1600" b="1" i="0" u="none" strike="noStrike" cap="none" dirty="0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 i="0" u="none" strike="noStrike" cap="none" dirty="0" err="1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600" b="1" i="0" u="none" strike="noStrike" cap="none" dirty="0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 i="0" u="none" strike="noStrike" cap="none" dirty="0" err="1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tiempo</a:t>
            </a:r>
            <a:r>
              <a:rPr lang="en-US" sz="1600" b="1" i="0" u="none" strike="noStrike" cap="none" dirty="0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real con ROS 2</a:t>
            </a:r>
            <a:endParaRPr sz="1600" b="0" i="0" u="none" strike="noStrike" cap="none" dirty="0">
              <a:solidFill>
                <a:schemeClr val="accent6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72;p5">
            <a:extLst>
              <a:ext uri="{FF2B5EF4-FFF2-40B4-BE49-F238E27FC236}">
                <a16:creationId xmlns:a16="http://schemas.microsoft.com/office/drawing/2014/main" id="{83464FEB-7188-578D-553A-B1B2006129DE}"/>
              </a:ext>
            </a:extLst>
          </p:cNvPr>
          <p:cNvSpPr/>
          <p:nvPr/>
        </p:nvSpPr>
        <p:spPr>
          <a:xfrm>
            <a:off x="7564436" y="5516226"/>
            <a:ext cx="4253112" cy="686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lang="en-US" sz="16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Latencias no deterministas (~200 ms) impiden aplicar RL diseñado para simuladores síncronos.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62;p5">
            <a:extLst>
              <a:ext uri="{FF2B5EF4-FFF2-40B4-BE49-F238E27FC236}">
                <a16:creationId xmlns:a16="http://schemas.microsoft.com/office/drawing/2014/main" id="{C53FDCB0-4ADA-8D95-EA54-412ACEFBD888}"/>
              </a:ext>
            </a:extLst>
          </p:cNvPr>
          <p:cNvSpPr/>
          <p:nvPr/>
        </p:nvSpPr>
        <p:spPr>
          <a:xfrm>
            <a:off x="7427276" y="4002999"/>
            <a:ext cx="81012" cy="1097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5" name="Google Shape;62;p5">
            <a:extLst>
              <a:ext uri="{FF2B5EF4-FFF2-40B4-BE49-F238E27FC236}">
                <a16:creationId xmlns:a16="http://schemas.microsoft.com/office/drawing/2014/main" id="{985D6EB6-220C-3AA9-759E-FE59B0F28160}"/>
              </a:ext>
            </a:extLst>
          </p:cNvPr>
          <p:cNvSpPr/>
          <p:nvPr/>
        </p:nvSpPr>
        <p:spPr>
          <a:xfrm>
            <a:off x="7422704" y="5241907"/>
            <a:ext cx="81012" cy="1097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24EA5490-978D-A87F-397D-B403D5185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24" y="2130222"/>
            <a:ext cx="6308181" cy="458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417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0058E0A7-40B2-5C7F-332F-CB517C528320}"/>
              </a:ext>
            </a:extLst>
          </p:cNvPr>
          <p:cNvSpPr txBox="1">
            <a:spLocks/>
          </p:cNvSpPr>
          <p:nvPr/>
        </p:nvSpPr>
        <p:spPr>
          <a:xfrm>
            <a:off x="242053" y="518813"/>
            <a:ext cx="9814791" cy="52364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100" b="1" i="0" kern="1200">
                <a:solidFill>
                  <a:schemeClr val="tx1"/>
                </a:solidFill>
                <a:latin typeface="Periodico Display Rg" panose="02000504080000020004" pitchFamily="50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Objetivos</a:t>
            </a:r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93F997D4-53D5-3F9A-0A78-CD8335098F78}"/>
              </a:ext>
            </a:extLst>
          </p:cNvPr>
          <p:cNvSpPr txBox="1">
            <a:spLocks/>
          </p:cNvSpPr>
          <p:nvPr/>
        </p:nvSpPr>
        <p:spPr>
          <a:xfrm>
            <a:off x="242053" y="236730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Visuelt Pro" panose="020B05030402020401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02 - Objetivos</a:t>
            </a:r>
          </a:p>
        </p:txBody>
      </p:sp>
      <p:cxnSp>
        <p:nvCxnSpPr>
          <p:cNvPr id="18" name="Google Shape;94;p6">
            <a:extLst>
              <a:ext uri="{FF2B5EF4-FFF2-40B4-BE49-F238E27FC236}">
                <a16:creationId xmlns:a16="http://schemas.microsoft.com/office/drawing/2014/main" id="{1514F0E2-BB16-673D-BF7D-AF0D61D9FCDD}"/>
              </a:ext>
            </a:extLst>
          </p:cNvPr>
          <p:cNvCxnSpPr/>
          <p:nvPr/>
        </p:nvCxnSpPr>
        <p:spPr>
          <a:xfrm>
            <a:off x="365760" y="987552"/>
            <a:ext cx="8412480" cy="0"/>
          </a:xfrm>
          <a:prstGeom prst="straightConnector1">
            <a:avLst/>
          </a:prstGeom>
          <a:noFill/>
          <a:ln w="19050" cap="flat" cmpd="sng">
            <a:solidFill>
              <a:srgbClr val="0B718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95;p6">
            <a:extLst>
              <a:ext uri="{FF2B5EF4-FFF2-40B4-BE49-F238E27FC236}">
                <a16:creationId xmlns:a16="http://schemas.microsoft.com/office/drawing/2014/main" id="{1B2DC57F-2918-FA2B-408E-E6803278A946}"/>
              </a:ext>
            </a:extLst>
          </p:cNvPr>
          <p:cNvSpPr/>
          <p:nvPr/>
        </p:nvSpPr>
        <p:spPr>
          <a:xfrm>
            <a:off x="8823960" y="55321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lang="en-US" sz="1600" b="0" i="0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96;p6">
            <a:extLst>
              <a:ext uri="{FF2B5EF4-FFF2-40B4-BE49-F238E27FC236}">
                <a16:creationId xmlns:a16="http://schemas.microsoft.com/office/drawing/2014/main" id="{FC4E1BC4-69BF-B9A0-CC8D-D6EE4B911AC9}"/>
              </a:ext>
            </a:extLst>
          </p:cNvPr>
          <p:cNvSpPr/>
          <p:nvPr/>
        </p:nvSpPr>
        <p:spPr>
          <a:xfrm>
            <a:off x="365760" y="1499577"/>
            <a:ext cx="10690167" cy="9144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1" name="Google Shape;97;p6">
            <a:extLst>
              <a:ext uri="{FF2B5EF4-FFF2-40B4-BE49-F238E27FC236}">
                <a16:creationId xmlns:a16="http://schemas.microsoft.com/office/drawing/2014/main" id="{021AF46C-117E-E9AF-41A3-B957ADA60733}"/>
              </a:ext>
            </a:extLst>
          </p:cNvPr>
          <p:cNvSpPr/>
          <p:nvPr/>
        </p:nvSpPr>
        <p:spPr>
          <a:xfrm>
            <a:off x="286612" y="115847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b="1" i="0" u="none" strike="noStrike" cap="none" dirty="0" err="1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r>
              <a:rPr lang="en-US" b="1" i="0" u="none" strike="noStrike" cap="none" dirty="0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General</a:t>
            </a:r>
            <a:endParaRPr sz="1600" b="0" i="0" u="none" strike="noStrike" cap="none" dirty="0">
              <a:solidFill>
                <a:schemeClr val="accent6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98;p6">
            <a:extLst>
              <a:ext uri="{FF2B5EF4-FFF2-40B4-BE49-F238E27FC236}">
                <a16:creationId xmlns:a16="http://schemas.microsoft.com/office/drawing/2014/main" id="{B9535842-393E-0B4F-88C0-5575C212135F}"/>
              </a:ext>
            </a:extLst>
          </p:cNvPr>
          <p:cNvSpPr/>
          <p:nvPr/>
        </p:nvSpPr>
        <p:spPr>
          <a:xfrm>
            <a:off x="457199" y="1677846"/>
            <a:ext cx="10335491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F2F7"/>
              </a:buClr>
              <a:buSzPts val="1050"/>
              <a:buFont typeface="Calibri"/>
              <a:buNone/>
            </a:pPr>
            <a:r>
              <a:rPr lang="en-US" b="1" i="0" u="none" strike="noStrike" cap="none" dirty="0" err="1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Desarrollar</a:t>
            </a:r>
            <a:r>
              <a:rPr lang="en-US" b="1" i="0" u="none" strike="noStrike" cap="none" dirty="0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 un </a:t>
            </a:r>
            <a:r>
              <a:rPr lang="en-US" b="1" i="0" u="none" strike="noStrike" cap="none" dirty="0" err="1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modelo</a:t>
            </a:r>
            <a:r>
              <a:rPr lang="en-US" b="1" i="0" u="none" strike="noStrike" cap="none" dirty="0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 de </a:t>
            </a:r>
            <a:r>
              <a:rPr lang="en-US" b="1" i="0" u="none" strike="noStrike" cap="none" dirty="0" err="1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aprendizaje</a:t>
            </a:r>
            <a:r>
              <a:rPr lang="en-US" b="1" i="0" u="none" strike="noStrike" cap="none" dirty="0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 incremental </a:t>
            </a:r>
            <a:r>
              <a:rPr lang="en-US" b="1" i="0" u="none" strike="noStrike" cap="none" dirty="0" err="1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basado</a:t>
            </a:r>
            <a:r>
              <a:rPr lang="en-US" b="1" i="0" u="none" strike="noStrike" cap="none" dirty="0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b="1" i="0" u="none" strike="noStrike" cap="none" dirty="0" err="1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en</a:t>
            </a:r>
            <a:r>
              <a:rPr lang="en-US" b="1" i="0" u="none" strike="noStrike" cap="none" dirty="0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 DRL para </a:t>
            </a:r>
            <a:r>
              <a:rPr lang="en-US" b="1" i="0" u="none" strike="noStrike" cap="none" dirty="0" err="1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navegación</a:t>
            </a:r>
            <a:r>
              <a:rPr lang="en-US" b="1" i="0" u="none" strike="noStrike" cap="none" dirty="0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b="1" i="0" u="none" strike="noStrike" cap="none" dirty="0" err="1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autónoma</a:t>
            </a:r>
            <a:r>
              <a:rPr lang="en-US" b="1" i="0" u="none" strike="noStrike" cap="none" dirty="0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 de robots </a:t>
            </a:r>
            <a:r>
              <a:rPr lang="en-US" b="1" i="0" u="none" strike="noStrike" cap="none" dirty="0" err="1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móviles</a:t>
            </a:r>
            <a:r>
              <a:rPr lang="en-US" b="1" i="0" u="none" strike="noStrike" cap="none" dirty="0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b="1" i="0" u="none" strike="noStrike" cap="none" dirty="0" err="1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en</a:t>
            </a:r>
            <a:r>
              <a:rPr lang="en-US" b="1" i="0" u="none" strike="noStrike" cap="none" dirty="0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b="1" i="0" u="none" strike="noStrike" cap="none" dirty="0" err="1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entorno</a:t>
            </a:r>
            <a:r>
              <a:rPr lang="en-US" b="1" i="0" u="none" strike="noStrike" cap="none" dirty="0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b="1" i="0" u="none" strike="noStrike" cap="none" dirty="0" err="1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bancario</a:t>
            </a:r>
            <a:r>
              <a:rPr lang="en-US" b="1" i="0" u="none" strike="noStrike" cap="none" dirty="0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b="1" i="0" u="none" strike="noStrike" cap="none" dirty="0" err="1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simulado</a:t>
            </a:r>
            <a:r>
              <a:rPr lang="en-US" b="1" i="0" u="none" strike="noStrike" cap="none" dirty="0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, </a:t>
            </a:r>
            <a:r>
              <a:rPr lang="en-US" b="1" i="0" u="none" strike="noStrike" cap="none" dirty="0" err="1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guiando</a:t>
            </a:r>
            <a:r>
              <a:rPr lang="en-US" b="1" i="0" u="none" strike="noStrike" cap="none" dirty="0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b="1" i="0" u="none" strike="noStrike" cap="none" dirty="0" err="1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usuarios</a:t>
            </a:r>
            <a:r>
              <a:rPr lang="en-US" b="1" i="0" u="none" strike="noStrike" cap="none" dirty="0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 a </a:t>
            </a:r>
            <a:r>
              <a:rPr lang="en-US" b="1" i="0" u="none" strike="noStrike" cap="none" dirty="0" err="1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cajeros</a:t>
            </a:r>
            <a:r>
              <a:rPr lang="en-US" b="1" i="0" u="none" strike="noStrike" cap="none" dirty="0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, </a:t>
            </a:r>
            <a:r>
              <a:rPr lang="en-US" b="1" i="0" u="none" strike="noStrike" cap="none" dirty="0" err="1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ventanillas</a:t>
            </a:r>
            <a:r>
              <a:rPr lang="en-US" b="1" i="0" u="none" strike="noStrike" cap="none" dirty="0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 y </a:t>
            </a:r>
            <a:r>
              <a:rPr lang="en-US" b="1" i="0" u="none" strike="noStrike" cap="none" dirty="0" err="1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atención</a:t>
            </a:r>
            <a:r>
              <a:rPr lang="en-US" b="1" i="0" u="none" strike="noStrike" cap="none" dirty="0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 al </a:t>
            </a:r>
            <a:r>
              <a:rPr lang="en-US" b="1" i="0" u="none" strike="noStrike" cap="none" dirty="0" err="1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cliente</a:t>
            </a:r>
            <a:r>
              <a:rPr lang="en-US" b="1" i="0" u="none" strike="noStrike" cap="none" dirty="0">
                <a:solidFill>
                  <a:srgbClr val="E0F2F7"/>
                </a:solidFill>
                <a:ea typeface="Calibri"/>
                <a:cs typeface="Calibri"/>
                <a:sym typeface="Calibri"/>
              </a:rPr>
              <a:t>.</a:t>
            </a:r>
            <a:endParaRPr b="1" i="0" u="none" strike="noStrike" cap="none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99;p6">
            <a:extLst>
              <a:ext uri="{FF2B5EF4-FFF2-40B4-BE49-F238E27FC236}">
                <a16:creationId xmlns:a16="http://schemas.microsoft.com/office/drawing/2014/main" id="{ECEB25AF-1969-7B35-7A8D-AF7FA3849B7B}"/>
              </a:ext>
            </a:extLst>
          </p:cNvPr>
          <p:cNvSpPr/>
          <p:nvPr/>
        </p:nvSpPr>
        <p:spPr>
          <a:xfrm>
            <a:off x="502920" y="2834640"/>
            <a:ext cx="365760" cy="36576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6" name="Google Shape;100;p6">
            <a:extLst>
              <a:ext uri="{FF2B5EF4-FFF2-40B4-BE49-F238E27FC236}">
                <a16:creationId xmlns:a16="http://schemas.microsoft.com/office/drawing/2014/main" id="{ED370D97-6F1C-30E8-EEEC-E785F87B5BA5}"/>
              </a:ext>
            </a:extLst>
          </p:cNvPr>
          <p:cNvSpPr/>
          <p:nvPr/>
        </p:nvSpPr>
        <p:spPr>
          <a:xfrm>
            <a:off x="502920" y="2834640"/>
            <a:ext cx="365760" cy="36576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lang="en-US" sz="16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OE1</a:t>
            </a:r>
            <a:endParaRPr sz="16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101;p6">
            <a:extLst>
              <a:ext uri="{FF2B5EF4-FFF2-40B4-BE49-F238E27FC236}">
                <a16:creationId xmlns:a16="http://schemas.microsoft.com/office/drawing/2014/main" id="{6E21B342-8E2D-EE47-6C9A-D9B4D6D53D0A}"/>
              </a:ext>
            </a:extLst>
          </p:cNvPr>
          <p:cNvSpPr/>
          <p:nvPr/>
        </p:nvSpPr>
        <p:spPr>
          <a:xfrm>
            <a:off x="960119" y="2871216"/>
            <a:ext cx="8973589" cy="326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Diseñar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entorno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simulación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ROS 2 con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espacio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estados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acciones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función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recompensa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102;p6">
            <a:extLst>
              <a:ext uri="{FF2B5EF4-FFF2-40B4-BE49-F238E27FC236}">
                <a16:creationId xmlns:a16="http://schemas.microsoft.com/office/drawing/2014/main" id="{931F9BC1-EC84-207F-B088-79B5A7D2C0CC}"/>
              </a:ext>
            </a:extLst>
          </p:cNvPr>
          <p:cNvSpPr/>
          <p:nvPr/>
        </p:nvSpPr>
        <p:spPr>
          <a:xfrm>
            <a:off x="502920" y="3383280"/>
            <a:ext cx="365760" cy="36576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0" name="Google Shape;103;p6">
            <a:extLst>
              <a:ext uri="{FF2B5EF4-FFF2-40B4-BE49-F238E27FC236}">
                <a16:creationId xmlns:a16="http://schemas.microsoft.com/office/drawing/2014/main" id="{DB476733-00D8-6D1F-0766-6D8AB93E4295}"/>
              </a:ext>
            </a:extLst>
          </p:cNvPr>
          <p:cNvSpPr/>
          <p:nvPr/>
        </p:nvSpPr>
        <p:spPr>
          <a:xfrm>
            <a:off x="502920" y="3383280"/>
            <a:ext cx="365760" cy="36576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lang="en-US" sz="16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OE2</a:t>
            </a:r>
            <a:endParaRPr sz="16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104;p6">
            <a:extLst>
              <a:ext uri="{FF2B5EF4-FFF2-40B4-BE49-F238E27FC236}">
                <a16:creationId xmlns:a16="http://schemas.microsoft.com/office/drawing/2014/main" id="{E8638AD6-7B5B-698E-E6F2-D3E723C9F602}"/>
              </a:ext>
            </a:extLst>
          </p:cNvPr>
          <p:cNvSpPr/>
          <p:nvPr/>
        </p:nvSpPr>
        <p:spPr>
          <a:xfrm>
            <a:off x="960119" y="3419856"/>
            <a:ext cx="9583190" cy="228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Determinar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características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del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espacio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estados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el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movimiento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impacto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la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política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aprendida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105;p6">
            <a:extLst>
              <a:ext uri="{FF2B5EF4-FFF2-40B4-BE49-F238E27FC236}">
                <a16:creationId xmlns:a16="http://schemas.microsoft.com/office/drawing/2014/main" id="{F0A491DA-44F4-ABAD-8AE6-0FACC6DE004F}"/>
              </a:ext>
            </a:extLst>
          </p:cNvPr>
          <p:cNvSpPr/>
          <p:nvPr/>
        </p:nvSpPr>
        <p:spPr>
          <a:xfrm>
            <a:off x="502920" y="3931920"/>
            <a:ext cx="365760" cy="36576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3" name="Google Shape;106;p6">
            <a:extLst>
              <a:ext uri="{FF2B5EF4-FFF2-40B4-BE49-F238E27FC236}">
                <a16:creationId xmlns:a16="http://schemas.microsoft.com/office/drawing/2014/main" id="{61FFD91C-614A-6E50-AF9F-7FC99D6F74AA}"/>
              </a:ext>
            </a:extLst>
          </p:cNvPr>
          <p:cNvSpPr/>
          <p:nvPr/>
        </p:nvSpPr>
        <p:spPr>
          <a:xfrm>
            <a:off x="502920" y="3931920"/>
            <a:ext cx="365760" cy="36576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lang="en-US" sz="16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OE3</a:t>
            </a:r>
            <a:endParaRPr sz="16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107;p6">
            <a:extLst>
              <a:ext uri="{FF2B5EF4-FFF2-40B4-BE49-F238E27FC236}">
                <a16:creationId xmlns:a16="http://schemas.microsoft.com/office/drawing/2014/main" id="{09856854-84AE-BEA5-827D-9DE7325768CF}"/>
              </a:ext>
            </a:extLst>
          </p:cNvPr>
          <p:cNvSpPr/>
          <p:nvPr/>
        </p:nvSpPr>
        <p:spPr>
          <a:xfrm>
            <a:off x="960120" y="3968496"/>
            <a:ext cx="79552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Diseñar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estrategia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aprendizaje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incremental para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actualización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online.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108;p6">
            <a:extLst>
              <a:ext uri="{FF2B5EF4-FFF2-40B4-BE49-F238E27FC236}">
                <a16:creationId xmlns:a16="http://schemas.microsoft.com/office/drawing/2014/main" id="{7F7C5E38-8447-92E1-C0FC-1F2FB01E26A2}"/>
              </a:ext>
            </a:extLst>
          </p:cNvPr>
          <p:cNvSpPr/>
          <p:nvPr/>
        </p:nvSpPr>
        <p:spPr>
          <a:xfrm>
            <a:off x="502920" y="4480560"/>
            <a:ext cx="365760" cy="36576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6" name="Google Shape;109;p6">
            <a:extLst>
              <a:ext uri="{FF2B5EF4-FFF2-40B4-BE49-F238E27FC236}">
                <a16:creationId xmlns:a16="http://schemas.microsoft.com/office/drawing/2014/main" id="{F94A01BE-9843-A5FB-C0D1-96ACD6525BA1}"/>
              </a:ext>
            </a:extLst>
          </p:cNvPr>
          <p:cNvSpPr/>
          <p:nvPr/>
        </p:nvSpPr>
        <p:spPr>
          <a:xfrm>
            <a:off x="502920" y="4480560"/>
            <a:ext cx="365760" cy="36576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lang="en-US" sz="16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OE4</a:t>
            </a:r>
            <a:endParaRPr sz="16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110;p6">
            <a:extLst>
              <a:ext uri="{FF2B5EF4-FFF2-40B4-BE49-F238E27FC236}">
                <a16:creationId xmlns:a16="http://schemas.microsoft.com/office/drawing/2014/main" id="{850912A9-D3B5-9150-5021-D1A0B32DCFAC}"/>
              </a:ext>
            </a:extLst>
          </p:cNvPr>
          <p:cNvSpPr/>
          <p:nvPr/>
        </p:nvSpPr>
        <p:spPr>
          <a:xfrm>
            <a:off x="960120" y="4517136"/>
            <a:ext cx="79552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Implementar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agente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SAC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integrado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con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movimiento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ROS 2 / Gazebo.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111;p6">
            <a:extLst>
              <a:ext uri="{FF2B5EF4-FFF2-40B4-BE49-F238E27FC236}">
                <a16:creationId xmlns:a16="http://schemas.microsoft.com/office/drawing/2014/main" id="{DA522BA3-DB2D-60AB-B85E-6209F61688A7}"/>
              </a:ext>
            </a:extLst>
          </p:cNvPr>
          <p:cNvSpPr/>
          <p:nvPr/>
        </p:nvSpPr>
        <p:spPr>
          <a:xfrm>
            <a:off x="502920" y="5029200"/>
            <a:ext cx="365760" cy="36576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9" name="Google Shape;112;p6">
            <a:extLst>
              <a:ext uri="{FF2B5EF4-FFF2-40B4-BE49-F238E27FC236}">
                <a16:creationId xmlns:a16="http://schemas.microsoft.com/office/drawing/2014/main" id="{CCEB181F-C7D4-C80B-2307-BB20BE28EADA}"/>
              </a:ext>
            </a:extLst>
          </p:cNvPr>
          <p:cNvSpPr/>
          <p:nvPr/>
        </p:nvSpPr>
        <p:spPr>
          <a:xfrm>
            <a:off x="502920" y="50292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lang="en-US" sz="16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OE5</a:t>
            </a:r>
            <a:endParaRPr sz="16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113;p6">
            <a:extLst>
              <a:ext uri="{FF2B5EF4-FFF2-40B4-BE49-F238E27FC236}">
                <a16:creationId xmlns:a16="http://schemas.microsoft.com/office/drawing/2014/main" id="{74EF4DBC-1DAD-B1F7-CC96-58AE035376DD}"/>
              </a:ext>
            </a:extLst>
          </p:cNvPr>
          <p:cNvSpPr/>
          <p:nvPr/>
        </p:nvSpPr>
        <p:spPr>
          <a:xfrm>
            <a:off x="960120" y="5065776"/>
            <a:ext cx="79552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Evaluar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mapa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simulados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verificar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generalidad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adaptabilidad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2697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0058E0A7-40B2-5C7F-332F-CB517C528320}"/>
              </a:ext>
            </a:extLst>
          </p:cNvPr>
          <p:cNvSpPr txBox="1">
            <a:spLocks/>
          </p:cNvSpPr>
          <p:nvPr/>
        </p:nvSpPr>
        <p:spPr>
          <a:xfrm>
            <a:off x="242053" y="518813"/>
            <a:ext cx="9814791" cy="52364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100" b="1" i="0" kern="1200">
                <a:solidFill>
                  <a:schemeClr val="tx1"/>
                </a:solidFill>
                <a:latin typeface="Periodico Display Rg" panose="02000504080000020004" pitchFamily="50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b="1" i="0" u="none" strike="noStrike" cap="none" dirty="0">
                <a:solidFill>
                  <a:srgbClr val="0D1B2A"/>
                </a:solidFill>
                <a:latin typeface="Trebuchet MS"/>
                <a:ea typeface="Trebuchet MS"/>
                <a:cs typeface="Trebuchet MS"/>
                <a:sym typeface="Trebuchet MS"/>
              </a:rPr>
              <a:t>Marco Conceptual y Estado del Arte</a:t>
            </a:r>
          </a:p>
          <a:p>
            <a:endParaRPr lang="es-ES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93F997D4-53D5-3F9A-0A78-CD8335098F78}"/>
              </a:ext>
            </a:extLst>
          </p:cNvPr>
          <p:cNvSpPr txBox="1">
            <a:spLocks/>
          </p:cNvSpPr>
          <p:nvPr/>
        </p:nvSpPr>
        <p:spPr>
          <a:xfrm>
            <a:off x="242053" y="236730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Visuelt Pro" panose="020B05030402020401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03 – Estado del arte</a:t>
            </a:r>
          </a:p>
        </p:txBody>
      </p:sp>
      <p:cxnSp>
        <p:nvCxnSpPr>
          <p:cNvPr id="18" name="Google Shape;94;p6">
            <a:extLst>
              <a:ext uri="{FF2B5EF4-FFF2-40B4-BE49-F238E27FC236}">
                <a16:creationId xmlns:a16="http://schemas.microsoft.com/office/drawing/2014/main" id="{1514F0E2-BB16-673D-BF7D-AF0D61D9FCDD}"/>
              </a:ext>
            </a:extLst>
          </p:cNvPr>
          <p:cNvCxnSpPr/>
          <p:nvPr/>
        </p:nvCxnSpPr>
        <p:spPr>
          <a:xfrm>
            <a:off x="365760" y="987552"/>
            <a:ext cx="8412480" cy="0"/>
          </a:xfrm>
          <a:prstGeom prst="straightConnector1">
            <a:avLst/>
          </a:prstGeom>
          <a:noFill/>
          <a:ln w="19050" cap="flat" cmpd="sng">
            <a:solidFill>
              <a:srgbClr val="0B718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24;p7">
            <a:extLst>
              <a:ext uri="{FF2B5EF4-FFF2-40B4-BE49-F238E27FC236}">
                <a16:creationId xmlns:a16="http://schemas.microsoft.com/office/drawing/2014/main" id="{CE946466-864A-671B-CC97-58914AE82516}"/>
              </a:ext>
            </a:extLst>
          </p:cNvPr>
          <p:cNvSpPr/>
          <p:nvPr/>
        </p:nvSpPr>
        <p:spPr>
          <a:xfrm>
            <a:off x="457200" y="2128520"/>
            <a:ext cx="7874000" cy="127978"/>
          </a:xfrm>
          <a:prstGeom prst="rect">
            <a:avLst/>
          </a:prstGeom>
          <a:solidFill>
            <a:srgbClr val="0B718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" name="Google Shape;125;p7">
            <a:extLst>
              <a:ext uri="{FF2B5EF4-FFF2-40B4-BE49-F238E27FC236}">
                <a16:creationId xmlns:a16="http://schemas.microsoft.com/office/drawing/2014/main" id="{283FF397-E93F-A9B9-028B-87022DA9DC26}"/>
              </a:ext>
            </a:extLst>
          </p:cNvPr>
          <p:cNvSpPr/>
          <p:nvPr/>
        </p:nvSpPr>
        <p:spPr>
          <a:xfrm>
            <a:off x="731520" y="2000504"/>
            <a:ext cx="252702" cy="22352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5" name="Google Shape;126;p7">
            <a:extLst>
              <a:ext uri="{FF2B5EF4-FFF2-40B4-BE49-F238E27FC236}">
                <a16:creationId xmlns:a16="http://schemas.microsoft.com/office/drawing/2014/main" id="{54541559-54AA-A715-BB86-B1E46F1BB343}"/>
              </a:ext>
            </a:extLst>
          </p:cNvPr>
          <p:cNvSpPr/>
          <p:nvPr/>
        </p:nvSpPr>
        <p:spPr>
          <a:xfrm>
            <a:off x="457200" y="1762760"/>
            <a:ext cx="1033780" cy="22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7189"/>
              </a:buClr>
              <a:buSzPts val="9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0B7189"/>
                </a:solidFill>
                <a:latin typeface="Calibri"/>
                <a:ea typeface="Calibri"/>
                <a:cs typeface="Calibri"/>
                <a:sym typeface="Calibri"/>
              </a:rPr>
              <a:t>1997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27;p7">
            <a:extLst>
              <a:ext uri="{FF2B5EF4-FFF2-40B4-BE49-F238E27FC236}">
                <a16:creationId xmlns:a16="http://schemas.microsoft.com/office/drawing/2014/main" id="{C1E93378-C6FA-3AE3-6F57-CCE472A7B1B2}"/>
              </a:ext>
            </a:extLst>
          </p:cNvPr>
          <p:cNvSpPr/>
          <p:nvPr/>
        </p:nvSpPr>
        <p:spPr>
          <a:xfrm>
            <a:off x="365760" y="2311400"/>
            <a:ext cx="1148644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800"/>
              <a:buFont typeface="Calibri"/>
              <a:buNone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Frontier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800"/>
              <a:buFont typeface="Calibri"/>
              <a:buNone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Exploration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800"/>
              <a:buFont typeface="Calibri"/>
              <a:buNone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(Yamauchi)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28;p7">
            <a:extLst>
              <a:ext uri="{FF2B5EF4-FFF2-40B4-BE49-F238E27FC236}">
                <a16:creationId xmlns:a16="http://schemas.microsoft.com/office/drawing/2014/main" id="{41F0C033-F959-70F7-D3FC-7B80626C0EEE}"/>
              </a:ext>
            </a:extLst>
          </p:cNvPr>
          <p:cNvSpPr/>
          <p:nvPr/>
        </p:nvSpPr>
        <p:spPr>
          <a:xfrm>
            <a:off x="2286000" y="2000504"/>
            <a:ext cx="252702" cy="22352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9" name="Google Shape;129;p7">
            <a:extLst>
              <a:ext uri="{FF2B5EF4-FFF2-40B4-BE49-F238E27FC236}">
                <a16:creationId xmlns:a16="http://schemas.microsoft.com/office/drawing/2014/main" id="{DC5CDD4F-6EF8-12E0-3E14-AE4AFD675153}"/>
              </a:ext>
            </a:extLst>
          </p:cNvPr>
          <p:cNvSpPr/>
          <p:nvPr/>
        </p:nvSpPr>
        <p:spPr>
          <a:xfrm>
            <a:off x="2011680" y="1762760"/>
            <a:ext cx="1033780" cy="22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7189"/>
              </a:buClr>
              <a:buSzPts val="900"/>
              <a:buFont typeface="Calibri"/>
              <a:buNone/>
            </a:pPr>
            <a:r>
              <a:rPr lang="en-US" sz="1200" b="1" i="0" u="none" strike="noStrike" cap="none">
                <a:solidFill>
                  <a:srgbClr val="0B7189"/>
                </a:solidFill>
                <a:latin typeface="Calibri"/>
                <a:ea typeface="Calibri"/>
                <a:cs typeface="Calibri"/>
                <a:sym typeface="Calibri"/>
              </a:rPr>
              <a:t>2015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30;p7">
            <a:extLst>
              <a:ext uri="{FF2B5EF4-FFF2-40B4-BE49-F238E27FC236}">
                <a16:creationId xmlns:a16="http://schemas.microsoft.com/office/drawing/2014/main" id="{A383AB58-3297-DFCD-86C3-48FB8D1D9B84}"/>
              </a:ext>
            </a:extLst>
          </p:cNvPr>
          <p:cNvSpPr/>
          <p:nvPr/>
        </p:nvSpPr>
        <p:spPr>
          <a:xfrm>
            <a:off x="1920240" y="2311400"/>
            <a:ext cx="1148644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800"/>
              <a:buFont typeface="Calibri"/>
              <a:buNone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DQN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800"/>
              <a:buFont typeface="Calibri"/>
              <a:buNone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(Mnih et al.)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800"/>
              <a:buFont typeface="Calibri"/>
              <a:buNone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Deep RL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31;p7">
            <a:extLst>
              <a:ext uri="{FF2B5EF4-FFF2-40B4-BE49-F238E27FC236}">
                <a16:creationId xmlns:a16="http://schemas.microsoft.com/office/drawing/2014/main" id="{1AF267AF-D19C-981C-F4A9-133AE4461F10}"/>
              </a:ext>
            </a:extLst>
          </p:cNvPr>
          <p:cNvSpPr/>
          <p:nvPr/>
        </p:nvSpPr>
        <p:spPr>
          <a:xfrm>
            <a:off x="3931920" y="2000504"/>
            <a:ext cx="252702" cy="22352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2" name="Google Shape;132;p7">
            <a:extLst>
              <a:ext uri="{FF2B5EF4-FFF2-40B4-BE49-F238E27FC236}">
                <a16:creationId xmlns:a16="http://schemas.microsoft.com/office/drawing/2014/main" id="{3447E23C-D3E2-7B01-D231-62279355DF32}"/>
              </a:ext>
            </a:extLst>
          </p:cNvPr>
          <p:cNvSpPr/>
          <p:nvPr/>
        </p:nvSpPr>
        <p:spPr>
          <a:xfrm>
            <a:off x="3657600" y="1762760"/>
            <a:ext cx="1033780" cy="22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7189"/>
              </a:buClr>
              <a:buSzPts val="900"/>
              <a:buFont typeface="Calibri"/>
              <a:buNone/>
            </a:pPr>
            <a:r>
              <a:rPr lang="en-US" sz="1200" b="1" i="0" u="none" strike="noStrike" cap="none">
                <a:solidFill>
                  <a:srgbClr val="0B7189"/>
                </a:solidFill>
                <a:latin typeface="Calibri"/>
                <a:ea typeface="Calibri"/>
                <a:cs typeface="Calibri"/>
                <a:sym typeface="Calibri"/>
              </a:rPr>
              <a:t>2018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3;p7">
            <a:extLst>
              <a:ext uri="{FF2B5EF4-FFF2-40B4-BE49-F238E27FC236}">
                <a16:creationId xmlns:a16="http://schemas.microsoft.com/office/drawing/2014/main" id="{DF1A757A-0C75-09E2-4347-D23B11FD6DBC}"/>
              </a:ext>
            </a:extLst>
          </p:cNvPr>
          <p:cNvSpPr/>
          <p:nvPr/>
        </p:nvSpPr>
        <p:spPr>
          <a:xfrm>
            <a:off x="3566160" y="2311400"/>
            <a:ext cx="1148644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800"/>
              <a:buFont typeface="Calibri"/>
              <a:buNone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SAC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800"/>
              <a:buFont typeface="Calibri"/>
              <a:buNone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(Haarnoja)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800"/>
              <a:buFont typeface="Calibri"/>
              <a:buNone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Entropía máx.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34;p7">
            <a:extLst>
              <a:ext uri="{FF2B5EF4-FFF2-40B4-BE49-F238E27FC236}">
                <a16:creationId xmlns:a16="http://schemas.microsoft.com/office/drawing/2014/main" id="{037844E1-0314-81D8-86D2-36DEBAE2336B}"/>
              </a:ext>
            </a:extLst>
          </p:cNvPr>
          <p:cNvSpPr/>
          <p:nvPr/>
        </p:nvSpPr>
        <p:spPr>
          <a:xfrm>
            <a:off x="5577840" y="2000504"/>
            <a:ext cx="252702" cy="22352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5" name="Google Shape;135;p7">
            <a:extLst>
              <a:ext uri="{FF2B5EF4-FFF2-40B4-BE49-F238E27FC236}">
                <a16:creationId xmlns:a16="http://schemas.microsoft.com/office/drawing/2014/main" id="{DE341BBA-3927-E11A-731C-6A0827728D03}"/>
              </a:ext>
            </a:extLst>
          </p:cNvPr>
          <p:cNvSpPr/>
          <p:nvPr/>
        </p:nvSpPr>
        <p:spPr>
          <a:xfrm>
            <a:off x="5303520" y="1762760"/>
            <a:ext cx="1033780" cy="22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7189"/>
              </a:buClr>
              <a:buSzPts val="900"/>
              <a:buFont typeface="Calibri"/>
              <a:buNone/>
            </a:pPr>
            <a:r>
              <a:rPr lang="en-US" sz="1200" b="1" i="0" u="none" strike="noStrike" cap="none">
                <a:solidFill>
                  <a:srgbClr val="0B7189"/>
                </a:solidFill>
                <a:latin typeface="Calibri"/>
                <a:ea typeface="Calibri"/>
                <a:cs typeface="Calibri"/>
                <a:sym typeface="Calibri"/>
              </a:rPr>
              <a:t>2020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36;p7">
            <a:extLst>
              <a:ext uri="{FF2B5EF4-FFF2-40B4-BE49-F238E27FC236}">
                <a16:creationId xmlns:a16="http://schemas.microsoft.com/office/drawing/2014/main" id="{AC48EF47-55DA-1664-D209-00AA574D6A3D}"/>
              </a:ext>
            </a:extLst>
          </p:cNvPr>
          <p:cNvSpPr/>
          <p:nvPr/>
        </p:nvSpPr>
        <p:spPr>
          <a:xfrm>
            <a:off x="5212080" y="2311400"/>
            <a:ext cx="1148644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800"/>
              <a:buFont typeface="Calibri"/>
              <a:buNone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EWC aplicado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800"/>
              <a:buFont typeface="Calibri"/>
              <a:buNone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 robótica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800"/>
              <a:buFont typeface="Calibri"/>
              <a:buNone/>
            </a:pPr>
            <a:r>
              <a:rPr lang="en-US" sz="12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(Lesort et al.)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37;p7">
            <a:extLst>
              <a:ext uri="{FF2B5EF4-FFF2-40B4-BE49-F238E27FC236}">
                <a16:creationId xmlns:a16="http://schemas.microsoft.com/office/drawing/2014/main" id="{A5C63C09-478E-1880-1B6D-E6A5FEC83616}"/>
              </a:ext>
            </a:extLst>
          </p:cNvPr>
          <p:cNvSpPr/>
          <p:nvPr/>
        </p:nvSpPr>
        <p:spPr>
          <a:xfrm>
            <a:off x="7040880" y="2000504"/>
            <a:ext cx="252702" cy="22352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4" name="Google Shape;138;p7">
            <a:extLst>
              <a:ext uri="{FF2B5EF4-FFF2-40B4-BE49-F238E27FC236}">
                <a16:creationId xmlns:a16="http://schemas.microsoft.com/office/drawing/2014/main" id="{BF7D0E21-1061-01BE-AD9D-67469757692E}"/>
              </a:ext>
            </a:extLst>
          </p:cNvPr>
          <p:cNvSpPr/>
          <p:nvPr/>
        </p:nvSpPr>
        <p:spPr>
          <a:xfrm>
            <a:off x="6766560" y="1762760"/>
            <a:ext cx="1033780" cy="22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7189"/>
              </a:buClr>
              <a:buSzPts val="900"/>
              <a:buFont typeface="Calibri"/>
              <a:buNone/>
            </a:pPr>
            <a:r>
              <a:rPr lang="en-US" sz="1200" b="1" i="0" u="none" strike="noStrike" cap="none">
                <a:solidFill>
                  <a:srgbClr val="0B7189"/>
                </a:solidFill>
                <a:latin typeface="Calibri"/>
                <a:ea typeface="Calibri"/>
                <a:cs typeface="Calibri"/>
                <a:sym typeface="Calibri"/>
              </a:rPr>
              <a:t>2023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139;p7">
            <a:extLst>
              <a:ext uri="{FF2B5EF4-FFF2-40B4-BE49-F238E27FC236}">
                <a16:creationId xmlns:a16="http://schemas.microsoft.com/office/drawing/2014/main" id="{8E20E2A5-1137-F5C3-F581-CA6D5D2A3C23}"/>
              </a:ext>
            </a:extLst>
          </p:cNvPr>
          <p:cNvSpPr/>
          <p:nvPr/>
        </p:nvSpPr>
        <p:spPr>
          <a:xfrm>
            <a:off x="6675120" y="2311400"/>
            <a:ext cx="1148644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8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ARiADNE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8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Curriculum RL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8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(Cao et al.)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English - Continual Learning - Elastic Weight Consolidation">
            <a:extLst>
              <a:ext uri="{FF2B5EF4-FFF2-40B4-BE49-F238E27FC236}">
                <a16:creationId xmlns:a16="http://schemas.microsoft.com/office/drawing/2014/main" id="{DB07384A-8AAD-8E06-5E1A-32EC8C2C02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78" b="15300"/>
          <a:stretch/>
        </p:blipFill>
        <p:spPr bwMode="auto">
          <a:xfrm>
            <a:off x="365760" y="3994196"/>
            <a:ext cx="4909399" cy="2648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Imagen 29" descr="Diagrama&#10;&#10;El contenido generado por IA puede ser incorrecto.">
            <a:extLst>
              <a:ext uri="{FF2B5EF4-FFF2-40B4-BE49-F238E27FC236}">
                <a16:creationId xmlns:a16="http://schemas.microsoft.com/office/drawing/2014/main" id="{074E33A2-9D75-2AF9-9094-79C43DBEA5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6" t="9628" r="3371" b="12732"/>
          <a:stretch/>
        </p:blipFill>
        <p:spPr>
          <a:xfrm>
            <a:off x="5577840" y="3565274"/>
            <a:ext cx="6179363" cy="307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295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0058E0A7-40B2-5C7F-332F-CB517C528320}"/>
              </a:ext>
            </a:extLst>
          </p:cNvPr>
          <p:cNvSpPr txBox="1">
            <a:spLocks/>
          </p:cNvSpPr>
          <p:nvPr/>
        </p:nvSpPr>
        <p:spPr>
          <a:xfrm>
            <a:off x="242053" y="518813"/>
            <a:ext cx="9814791" cy="52364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100" b="1" i="0" kern="1200">
                <a:solidFill>
                  <a:schemeClr val="tx1"/>
                </a:solidFill>
                <a:latin typeface="Periodico Display Rg" panose="02000504080000020004" pitchFamily="50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dirty="0">
                <a:solidFill>
                  <a:srgbClr val="0D1B2A"/>
                </a:solidFill>
                <a:latin typeface="Trebuchet MS"/>
                <a:sym typeface="Trebuchet MS"/>
              </a:rPr>
              <a:t>Definición de etapas metodológicas </a:t>
            </a:r>
            <a:endParaRPr lang="es-ES" sz="3200" b="1" i="0" u="none" strike="noStrike" cap="none" dirty="0">
              <a:solidFill>
                <a:srgbClr val="0D1B2A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endParaRPr lang="es-ES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93F997D4-53D5-3F9A-0A78-CD8335098F78}"/>
              </a:ext>
            </a:extLst>
          </p:cNvPr>
          <p:cNvSpPr txBox="1">
            <a:spLocks/>
          </p:cNvSpPr>
          <p:nvPr/>
        </p:nvSpPr>
        <p:spPr>
          <a:xfrm>
            <a:off x="242053" y="236730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Visuelt Pro" panose="020B05030402020401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04 – Metodología</a:t>
            </a:r>
          </a:p>
        </p:txBody>
      </p:sp>
      <p:cxnSp>
        <p:nvCxnSpPr>
          <p:cNvPr id="18" name="Google Shape;94;p6">
            <a:extLst>
              <a:ext uri="{FF2B5EF4-FFF2-40B4-BE49-F238E27FC236}">
                <a16:creationId xmlns:a16="http://schemas.microsoft.com/office/drawing/2014/main" id="{1514F0E2-BB16-673D-BF7D-AF0D61D9FCDD}"/>
              </a:ext>
            </a:extLst>
          </p:cNvPr>
          <p:cNvCxnSpPr/>
          <p:nvPr/>
        </p:nvCxnSpPr>
        <p:spPr>
          <a:xfrm>
            <a:off x="365760" y="987552"/>
            <a:ext cx="8412480" cy="0"/>
          </a:xfrm>
          <a:prstGeom prst="straightConnector1">
            <a:avLst/>
          </a:prstGeom>
          <a:noFill/>
          <a:ln w="19050" cap="flat" cmpd="sng">
            <a:solidFill>
              <a:srgbClr val="0B718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" name="Google Shape;159;p8">
            <a:extLst>
              <a:ext uri="{FF2B5EF4-FFF2-40B4-BE49-F238E27FC236}">
                <a16:creationId xmlns:a16="http://schemas.microsoft.com/office/drawing/2014/main" id="{8CCBB2AF-FD4D-7193-8F59-F20D0EFE3284}"/>
              </a:ext>
            </a:extLst>
          </p:cNvPr>
          <p:cNvSpPr/>
          <p:nvPr/>
        </p:nvSpPr>
        <p:spPr>
          <a:xfrm>
            <a:off x="685800" y="2336694"/>
            <a:ext cx="2217420" cy="213370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9" name="Google Shape;160;p8">
            <a:extLst>
              <a:ext uri="{FF2B5EF4-FFF2-40B4-BE49-F238E27FC236}">
                <a16:creationId xmlns:a16="http://schemas.microsoft.com/office/drawing/2014/main" id="{77D1CF9C-99CF-1615-EBA2-101D8C906DED}"/>
              </a:ext>
            </a:extLst>
          </p:cNvPr>
          <p:cNvSpPr/>
          <p:nvPr/>
        </p:nvSpPr>
        <p:spPr>
          <a:xfrm>
            <a:off x="685800" y="2336694"/>
            <a:ext cx="2217420" cy="64008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1" name="Google Shape;162;p8">
            <a:extLst>
              <a:ext uri="{FF2B5EF4-FFF2-40B4-BE49-F238E27FC236}">
                <a16:creationId xmlns:a16="http://schemas.microsoft.com/office/drawing/2014/main" id="{D4F51FA4-1C10-C2CE-EDF2-5E4E7D2F6883}"/>
              </a:ext>
            </a:extLst>
          </p:cNvPr>
          <p:cNvSpPr/>
          <p:nvPr/>
        </p:nvSpPr>
        <p:spPr>
          <a:xfrm>
            <a:off x="857250" y="2556657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Diseño</a:t>
            </a:r>
            <a:r>
              <a:rPr lang="en-US" sz="1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del </a:t>
            </a:r>
            <a:r>
              <a:rPr lang="en-US" sz="1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Entorno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163;p8">
            <a:extLst>
              <a:ext uri="{FF2B5EF4-FFF2-40B4-BE49-F238E27FC236}">
                <a16:creationId xmlns:a16="http://schemas.microsoft.com/office/drawing/2014/main" id="{39CE8ADF-9593-D4D9-C38F-D9C04179D6B5}"/>
              </a:ext>
            </a:extLst>
          </p:cNvPr>
          <p:cNvSpPr/>
          <p:nvPr/>
        </p:nvSpPr>
        <p:spPr>
          <a:xfrm>
            <a:off x="902970" y="3157369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Gazebo + ROS 2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Estado 370-dim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4 POIs + personas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165;p8">
            <a:extLst>
              <a:ext uri="{FF2B5EF4-FFF2-40B4-BE49-F238E27FC236}">
                <a16:creationId xmlns:a16="http://schemas.microsoft.com/office/drawing/2014/main" id="{7C15C725-49D6-6F70-1424-D6C12990AABA}"/>
              </a:ext>
            </a:extLst>
          </p:cNvPr>
          <p:cNvSpPr/>
          <p:nvPr/>
        </p:nvSpPr>
        <p:spPr>
          <a:xfrm>
            <a:off x="3177540" y="2307192"/>
            <a:ext cx="2217420" cy="21632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4" name="Google Shape;166;p8">
            <a:extLst>
              <a:ext uri="{FF2B5EF4-FFF2-40B4-BE49-F238E27FC236}">
                <a16:creationId xmlns:a16="http://schemas.microsoft.com/office/drawing/2014/main" id="{7E5BBED2-AC10-79E6-F6AC-9A9A406925BC}"/>
              </a:ext>
            </a:extLst>
          </p:cNvPr>
          <p:cNvSpPr/>
          <p:nvPr/>
        </p:nvSpPr>
        <p:spPr>
          <a:xfrm>
            <a:off x="3177540" y="2336694"/>
            <a:ext cx="2225040" cy="64008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6" name="Google Shape;168;p8">
            <a:extLst>
              <a:ext uri="{FF2B5EF4-FFF2-40B4-BE49-F238E27FC236}">
                <a16:creationId xmlns:a16="http://schemas.microsoft.com/office/drawing/2014/main" id="{2E86E534-3B57-F16E-92F1-66AE6FAF007C}"/>
              </a:ext>
            </a:extLst>
          </p:cNvPr>
          <p:cNvSpPr/>
          <p:nvPr/>
        </p:nvSpPr>
        <p:spPr>
          <a:xfrm>
            <a:off x="3250792" y="2500778"/>
            <a:ext cx="2103120" cy="348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r>
              <a:rPr lang="en-US" sz="1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del </a:t>
            </a:r>
            <a:r>
              <a:rPr lang="en-US" sz="1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Agente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169;p8">
            <a:extLst>
              <a:ext uri="{FF2B5EF4-FFF2-40B4-BE49-F238E27FC236}">
                <a16:creationId xmlns:a16="http://schemas.microsoft.com/office/drawing/2014/main" id="{C2A81D53-900E-71CE-62AC-CD70A66C295A}"/>
              </a:ext>
            </a:extLst>
          </p:cNvPr>
          <p:cNvSpPr/>
          <p:nvPr/>
        </p:nvSpPr>
        <p:spPr>
          <a:xfrm>
            <a:off x="3268980" y="3284008"/>
            <a:ext cx="2133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SAC (Actor-Critic)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MotionModel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+ EWC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Función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Recompensa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171;p8">
            <a:extLst>
              <a:ext uri="{FF2B5EF4-FFF2-40B4-BE49-F238E27FC236}">
                <a16:creationId xmlns:a16="http://schemas.microsoft.com/office/drawing/2014/main" id="{405AF807-3027-41DE-19BD-1CD396F8BB06}"/>
              </a:ext>
            </a:extLst>
          </p:cNvPr>
          <p:cNvSpPr/>
          <p:nvPr/>
        </p:nvSpPr>
        <p:spPr>
          <a:xfrm>
            <a:off x="5692140" y="2336694"/>
            <a:ext cx="2286000" cy="213370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9" name="Google Shape;172;p8">
            <a:extLst>
              <a:ext uri="{FF2B5EF4-FFF2-40B4-BE49-F238E27FC236}">
                <a16:creationId xmlns:a16="http://schemas.microsoft.com/office/drawing/2014/main" id="{18DDDCEF-78FE-C53D-7E4D-E4D72521C1F8}"/>
              </a:ext>
            </a:extLst>
          </p:cNvPr>
          <p:cNvSpPr/>
          <p:nvPr/>
        </p:nvSpPr>
        <p:spPr>
          <a:xfrm>
            <a:off x="5684520" y="2354982"/>
            <a:ext cx="2286000" cy="64008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51" name="Google Shape;174;p8">
            <a:extLst>
              <a:ext uri="{FF2B5EF4-FFF2-40B4-BE49-F238E27FC236}">
                <a16:creationId xmlns:a16="http://schemas.microsoft.com/office/drawing/2014/main" id="{1C1EA75F-74F2-FC47-FCA9-85A83D97F822}"/>
              </a:ext>
            </a:extLst>
          </p:cNvPr>
          <p:cNvSpPr/>
          <p:nvPr/>
        </p:nvSpPr>
        <p:spPr>
          <a:xfrm>
            <a:off x="5774688" y="2438190"/>
            <a:ext cx="223647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Integración</a:t>
            </a:r>
            <a:r>
              <a:rPr lang="en-US" sz="1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Entrenamiento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175;p8">
            <a:extLst>
              <a:ext uri="{FF2B5EF4-FFF2-40B4-BE49-F238E27FC236}">
                <a16:creationId xmlns:a16="http://schemas.microsoft.com/office/drawing/2014/main" id="{9C5DAE2B-D8F3-B27A-3950-03F1EC9C3440}"/>
              </a:ext>
            </a:extLst>
          </p:cNvPr>
          <p:cNvSpPr/>
          <p:nvPr/>
        </p:nvSpPr>
        <p:spPr>
          <a:xfrm>
            <a:off x="5935980" y="3068214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lang="en-US" sz="16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Curriculum 4 fases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lang="en-US" sz="16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γ annealing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lang="en-US" sz="16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Replay Buffer 1M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177;p8">
            <a:extLst>
              <a:ext uri="{FF2B5EF4-FFF2-40B4-BE49-F238E27FC236}">
                <a16:creationId xmlns:a16="http://schemas.microsoft.com/office/drawing/2014/main" id="{A3798E50-795D-4179-44D1-21B89C8D44E8}"/>
              </a:ext>
            </a:extLst>
          </p:cNvPr>
          <p:cNvSpPr/>
          <p:nvPr/>
        </p:nvSpPr>
        <p:spPr>
          <a:xfrm>
            <a:off x="8267700" y="2354982"/>
            <a:ext cx="2255520" cy="21154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54" name="Google Shape;178;p8">
            <a:extLst>
              <a:ext uri="{FF2B5EF4-FFF2-40B4-BE49-F238E27FC236}">
                <a16:creationId xmlns:a16="http://schemas.microsoft.com/office/drawing/2014/main" id="{A4ADB348-9DE4-9CBD-7B2F-E8CDA60C45A8}"/>
              </a:ext>
            </a:extLst>
          </p:cNvPr>
          <p:cNvSpPr/>
          <p:nvPr/>
        </p:nvSpPr>
        <p:spPr>
          <a:xfrm>
            <a:off x="8267700" y="2354982"/>
            <a:ext cx="2255520" cy="64008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56" name="Google Shape;180;p8">
            <a:extLst>
              <a:ext uri="{FF2B5EF4-FFF2-40B4-BE49-F238E27FC236}">
                <a16:creationId xmlns:a16="http://schemas.microsoft.com/office/drawing/2014/main" id="{8966CA4A-7474-96D1-C336-0B9CAE561A16}"/>
              </a:ext>
            </a:extLst>
          </p:cNvPr>
          <p:cNvSpPr/>
          <p:nvPr/>
        </p:nvSpPr>
        <p:spPr>
          <a:xfrm>
            <a:off x="8359140" y="2598210"/>
            <a:ext cx="2082800" cy="18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Evaluación</a:t>
            </a:r>
            <a:r>
              <a:rPr lang="en-US" sz="1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181;p8">
            <a:extLst>
              <a:ext uri="{FF2B5EF4-FFF2-40B4-BE49-F238E27FC236}">
                <a16:creationId xmlns:a16="http://schemas.microsoft.com/office/drawing/2014/main" id="{7CED3C79-7210-3EC0-CDD7-D583E2851FF8}"/>
              </a:ext>
            </a:extLst>
          </p:cNvPr>
          <p:cNvSpPr/>
          <p:nvPr/>
        </p:nvSpPr>
        <p:spPr>
          <a:xfrm>
            <a:off x="8359140" y="3086502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SR, SPL, CFR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IC 95% Bootstrap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20 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episodios</a:t>
            </a:r>
            <a:r>
              <a:rPr lang="en-US" sz="16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6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fase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0188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0058E0A7-40B2-5C7F-332F-CB517C528320}"/>
              </a:ext>
            </a:extLst>
          </p:cNvPr>
          <p:cNvSpPr txBox="1">
            <a:spLocks/>
          </p:cNvSpPr>
          <p:nvPr/>
        </p:nvSpPr>
        <p:spPr>
          <a:xfrm>
            <a:off x="242053" y="518813"/>
            <a:ext cx="9814791" cy="52364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100" b="1" i="0" kern="1200">
                <a:solidFill>
                  <a:schemeClr val="tx1"/>
                </a:solidFill>
                <a:latin typeface="Periodico Display Rg" panose="02000504080000020004" pitchFamily="50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dirty="0">
                <a:solidFill>
                  <a:srgbClr val="0D1B2A"/>
                </a:solidFill>
                <a:latin typeface="Trebuchet MS"/>
                <a:sym typeface="Trebuchet MS"/>
              </a:rPr>
              <a:t>Descripción del entorno implementado</a:t>
            </a:r>
            <a:endParaRPr lang="es-ES" sz="3200" b="1" i="0" u="none" strike="noStrike" cap="none" dirty="0">
              <a:solidFill>
                <a:srgbClr val="0D1B2A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endParaRPr lang="es-ES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93F997D4-53D5-3F9A-0A78-CD8335098F78}"/>
              </a:ext>
            </a:extLst>
          </p:cNvPr>
          <p:cNvSpPr txBox="1">
            <a:spLocks/>
          </p:cNvSpPr>
          <p:nvPr/>
        </p:nvSpPr>
        <p:spPr>
          <a:xfrm>
            <a:off x="242053" y="236730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Visuelt Pro" panose="020B05030402020401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04 – Metodología</a:t>
            </a:r>
          </a:p>
        </p:txBody>
      </p:sp>
      <p:cxnSp>
        <p:nvCxnSpPr>
          <p:cNvPr id="18" name="Google Shape;94;p6">
            <a:extLst>
              <a:ext uri="{FF2B5EF4-FFF2-40B4-BE49-F238E27FC236}">
                <a16:creationId xmlns:a16="http://schemas.microsoft.com/office/drawing/2014/main" id="{1514F0E2-BB16-673D-BF7D-AF0D61D9FCDD}"/>
              </a:ext>
            </a:extLst>
          </p:cNvPr>
          <p:cNvCxnSpPr/>
          <p:nvPr/>
        </p:nvCxnSpPr>
        <p:spPr>
          <a:xfrm>
            <a:off x="365760" y="987552"/>
            <a:ext cx="8412480" cy="0"/>
          </a:xfrm>
          <a:prstGeom prst="straightConnector1">
            <a:avLst/>
          </a:prstGeom>
          <a:noFill/>
          <a:ln w="19050" cap="flat" cmpd="sng">
            <a:solidFill>
              <a:srgbClr val="0B7189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3A8E75B8-818D-C9B5-7C36-4EA60611D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47" y="1511194"/>
            <a:ext cx="6394623" cy="247660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4FED5F1-39A9-49C5-BBC2-233749EDE46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96"/>
          <a:stretch/>
        </p:blipFill>
        <p:spPr bwMode="auto">
          <a:xfrm>
            <a:off x="365760" y="4669367"/>
            <a:ext cx="2432453" cy="195190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A783F2F-1BB6-844D-C2E1-1B900F00B56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682"/>
          <a:stretch/>
        </p:blipFill>
        <p:spPr bwMode="auto">
          <a:xfrm>
            <a:off x="3025724" y="4692271"/>
            <a:ext cx="2227347" cy="192876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25610E8-1B05-176F-7384-10F7713E7CB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407915" y="4692035"/>
            <a:ext cx="2306113" cy="1929235"/>
          </a:xfrm>
          <a:prstGeom prst="rect">
            <a:avLst/>
          </a:prstGeom>
          <a:noFill/>
        </p:spPr>
      </p:pic>
      <p:pic>
        <p:nvPicPr>
          <p:cNvPr id="16" name="Imagen 15" descr="Diagrama&#10;&#10;El contenido generado por IA puede ser incorrecto.">
            <a:extLst>
              <a:ext uri="{FF2B5EF4-FFF2-40B4-BE49-F238E27FC236}">
                <a16:creationId xmlns:a16="http://schemas.microsoft.com/office/drawing/2014/main" id="{AE2EEB55-D886-E13C-CAAA-0185540B13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5616" r="73636" b="20117"/>
          <a:stretch/>
        </p:blipFill>
        <p:spPr>
          <a:xfrm>
            <a:off x="6964569" y="1550780"/>
            <a:ext cx="2089949" cy="2397434"/>
          </a:xfrm>
          <a:prstGeom prst="rect">
            <a:avLst/>
          </a:prstGeom>
        </p:spPr>
      </p:pic>
      <p:pic>
        <p:nvPicPr>
          <p:cNvPr id="17" name="Imagen 16" descr="Diagrama&#10;&#10;El contenido generado por IA puede ser incorrecto.">
            <a:extLst>
              <a:ext uri="{FF2B5EF4-FFF2-40B4-BE49-F238E27FC236}">
                <a16:creationId xmlns:a16="http://schemas.microsoft.com/office/drawing/2014/main" id="{E087DA7A-A993-F4E6-7814-089B171E4C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20" t="16332" r="39459" b="19401"/>
          <a:stretch/>
        </p:blipFill>
        <p:spPr>
          <a:xfrm>
            <a:off x="9205777" y="4223362"/>
            <a:ext cx="2649502" cy="2397434"/>
          </a:xfrm>
          <a:prstGeom prst="rect">
            <a:avLst/>
          </a:prstGeom>
        </p:spPr>
      </p:pic>
      <p:pic>
        <p:nvPicPr>
          <p:cNvPr id="19" name="Imagen 18" descr="Diagrama&#10;&#10;El contenido generado por IA puede ser incorrecto.">
            <a:extLst>
              <a:ext uri="{FF2B5EF4-FFF2-40B4-BE49-F238E27FC236}">
                <a16:creationId xmlns:a16="http://schemas.microsoft.com/office/drawing/2014/main" id="{D9DC6104-0337-A396-72C3-FDC7B65C00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99" t="14129" r="1150" b="17518"/>
          <a:stretch/>
        </p:blipFill>
        <p:spPr>
          <a:xfrm>
            <a:off x="9109257" y="1437966"/>
            <a:ext cx="2921396" cy="2549834"/>
          </a:xfrm>
          <a:prstGeom prst="rect">
            <a:avLst/>
          </a:prstGeom>
        </p:spPr>
      </p:pic>
      <p:sp>
        <p:nvSpPr>
          <p:cNvPr id="20" name="Google Shape;97;p6">
            <a:extLst>
              <a:ext uri="{FF2B5EF4-FFF2-40B4-BE49-F238E27FC236}">
                <a16:creationId xmlns:a16="http://schemas.microsoft.com/office/drawing/2014/main" id="{2FB6711C-80A8-380A-667A-206F590FE357}"/>
              </a:ext>
            </a:extLst>
          </p:cNvPr>
          <p:cNvSpPr/>
          <p:nvPr/>
        </p:nvSpPr>
        <p:spPr>
          <a:xfrm>
            <a:off x="457200" y="121120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b="1" i="0" u="none" strike="noStrike" cap="none" dirty="0" err="1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Entorno</a:t>
            </a:r>
            <a:r>
              <a:rPr lang="en-US" b="1" i="0" u="none" strike="noStrike" cap="none" dirty="0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1" i="0" u="none" strike="noStrike" cap="none" dirty="0" err="1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Bancario</a:t>
            </a:r>
            <a:endParaRPr b="0" i="0" u="none" strike="noStrike" cap="none" dirty="0">
              <a:solidFill>
                <a:schemeClr val="accent6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97;p6">
            <a:extLst>
              <a:ext uri="{FF2B5EF4-FFF2-40B4-BE49-F238E27FC236}">
                <a16:creationId xmlns:a16="http://schemas.microsoft.com/office/drawing/2014/main" id="{BA4E3C6D-AAB0-3433-EE1F-E7CF347CE851}"/>
              </a:ext>
            </a:extLst>
          </p:cNvPr>
          <p:cNvSpPr/>
          <p:nvPr/>
        </p:nvSpPr>
        <p:spPr>
          <a:xfrm>
            <a:off x="824918" y="4358433"/>
            <a:ext cx="1715082" cy="310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600" b="1" i="0" u="none" strike="noStrike" cap="none" dirty="0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ATM 1 y ATM 2</a:t>
            </a:r>
            <a:endParaRPr sz="1600" b="0" i="0" u="none" strike="noStrike" cap="none" dirty="0">
              <a:solidFill>
                <a:schemeClr val="accent6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97;p6">
            <a:extLst>
              <a:ext uri="{FF2B5EF4-FFF2-40B4-BE49-F238E27FC236}">
                <a16:creationId xmlns:a16="http://schemas.microsoft.com/office/drawing/2014/main" id="{0A7B7662-ECD0-7652-BAF9-59247DDA3B11}"/>
              </a:ext>
            </a:extLst>
          </p:cNvPr>
          <p:cNvSpPr/>
          <p:nvPr/>
        </p:nvSpPr>
        <p:spPr>
          <a:xfrm>
            <a:off x="3541038" y="4358433"/>
            <a:ext cx="1715082" cy="310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600" b="1" i="0" u="none" strike="noStrike" cap="none" dirty="0" err="1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Ventanilla</a:t>
            </a:r>
            <a:endParaRPr sz="1600" b="0" i="0" u="none" strike="noStrike" cap="none" dirty="0">
              <a:solidFill>
                <a:schemeClr val="accent6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97;p6">
            <a:extLst>
              <a:ext uri="{FF2B5EF4-FFF2-40B4-BE49-F238E27FC236}">
                <a16:creationId xmlns:a16="http://schemas.microsoft.com/office/drawing/2014/main" id="{DAAC48B4-1ABA-CB1C-06ED-5B12EE62F40D}"/>
              </a:ext>
            </a:extLst>
          </p:cNvPr>
          <p:cNvSpPr/>
          <p:nvPr/>
        </p:nvSpPr>
        <p:spPr>
          <a:xfrm>
            <a:off x="5632116" y="4358433"/>
            <a:ext cx="1715082" cy="310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600" b="1" i="0" u="none" strike="noStrike" cap="none" dirty="0" err="1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Servicio</a:t>
            </a:r>
            <a:r>
              <a:rPr lang="en-US" sz="1600" b="1" i="0" u="none" strike="noStrike" cap="none" dirty="0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al </a:t>
            </a:r>
            <a:r>
              <a:rPr lang="en-US" sz="1600" b="1" i="0" u="none" strike="noStrike" cap="none" dirty="0" err="1">
                <a:solidFill>
                  <a:schemeClr val="accent6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sz="1600" b="0" i="0" u="none" strike="noStrike" cap="none" dirty="0">
              <a:solidFill>
                <a:schemeClr val="accent6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9336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23"/>
          </p:nvPr>
        </p:nvSpPr>
        <p:spPr>
          <a:xfrm>
            <a:off x="7555523" y="1354016"/>
            <a:ext cx="4721161" cy="342900"/>
          </a:xfrm>
        </p:spPr>
        <p:txBody>
          <a:bodyPr/>
          <a:lstStyle/>
          <a:p>
            <a:r>
              <a:rPr lang="es-EC" sz="1400" dirty="0" err="1">
                <a:solidFill>
                  <a:schemeClr val="accent6">
                    <a:lumMod val="50000"/>
                  </a:schemeClr>
                </a:solidFill>
              </a:rPr>
              <a:t>Hiperparámetros</a:t>
            </a:r>
            <a:r>
              <a:rPr lang="es-EC" sz="1400" dirty="0">
                <a:solidFill>
                  <a:schemeClr val="accent6">
                    <a:lumMod val="50000"/>
                  </a:schemeClr>
                </a:solidFill>
              </a:rPr>
              <a:t> del Actor y Críticos (SAC)</a:t>
            </a:r>
          </a:p>
          <a:p>
            <a:endParaRPr lang="es-ES" dirty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0"/>
          </p:nvPr>
        </p:nvSpPr>
        <p:spPr>
          <a:xfrm>
            <a:off x="302574" y="447409"/>
            <a:ext cx="5892016" cy="523642"/>
          </a:xfrm>
        </p:spPr>
        <p:txBody>
          <a:bodyPr/>
          <a:lstStyle/>
          <a:p>
            <a:r>
              <a:rPr lang="es-ES" dirty="0"/>
              <a:t>Descripción de modelos</a:t>
            </a:r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ES" dirty="0"/>
              <a:t>04 – Metodología</a:t>
            </a:r>
          </a:p>
          <a:p>
            <a:endParaRPr lang="es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43C19DA-CD67-9FC0-2812-C2284C655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84" y="1222131"/>
            <a:ext cx="5760131" cy="5503984"/>
          </a:xfrm>
          <a:prstGeom prst="rect">
            <a:avLst/>
          </a:prstGeom>
        </p:spPr>
      </p:pic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EC615B91-BE06-1F38-64EB-E0B45CF439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149000"/>
              </p:ext>
            </p:extLst>
          </p:nvPr>
        </p:nvGraphicFramePr>
        <p:xfrm>
          <a:off x="7193275" y="1868280"/>
          <a:ext cx="3981748" cy="26563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90874">
                  <a:extLst>
                    <a:ext uri="{9D8B030D-6E8A-4147-A177-3AD203B41FA5}">
                      <a16:colId xmlns:a16="http://schemas.microsoft.com/office/drawing/2014/main" val="3669643932"/>
                    </a:ext>
                  </a:extLst>
                </a:gridCol>
                <a:gridCol w="1990874">
                  <a:extLst>
                    <a:ext uri="{9D8B030D-6E8A-4147-A177-3AD203B41FA5}">
                      <a16:colId xmlns:a16="http://schemas.microsoft.com/office/drawing/2014/main" val="707319472"/>
                    </a:ext>
                  </a:extLst>
                </a:gridCol>
              </a:tblGrid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Hiperparámetro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Valor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58027742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lr</a:t>
                      </a:r>
                      <a:r>
                        <a:rPr lang="en-US" sz="1800" dirty="0">
                          <a:effectLst/>
                        </a:rPr>
                        <a:t> (actor/critics)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3×10⁻⁴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2848944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τ (soft update)</a:t>
                      </a:r>
                      <a:endParaRPr lang="es-EC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0.005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3486677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batch_size</a:t>
                      </a:r>
                      <a:endParaRPr lang="es-EC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256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1254015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buffer_size</a:t>
                      </a:r>
                      <a:endParaRPr lang="es-EC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1,000,000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2097112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hidden_dim</a:t>
                      </a:r>
                      <a:endParaRPr lang="es-EC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256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3211518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γ_start / γ_end</a:t>
                      </a:r>
                      <a:endParaRPr lang="es-EC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0.9 / 0.99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2843253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γ_anneal_steps</a:t>
                      </a:r>
                      <a:endParaRPr lang="es-EC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200,000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5177788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ALPHA_FLOOR</a:t>
                      </a:r>
                      <a:endParaRPr lang="es-EC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0.05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8116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4567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85B0D-1DF0-024E-F5D1-F458F36D4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24784586-A250-38EF-51EF-03809ECAB24D}"/>
              </a:ext>
            </a:extLst>
          </p:cNvPr>
          <p:cNvSpPr txBox="1">
            <a:spLocks/>
          </p:cNvSpPr>
          <p:nvPr/>
        </p:nvSpPr>
        <p:spPr>
          <a:xfrm>
            <a:off x="242053" y="518813"/>
            <a:ext cx="9814791" cy="52364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100" b="1" i="0" kern="1200">
                <a:solidFill>
                  <a:schemeClr val="tx1"/>
                </a:solidFill>
                <a:latin typeface="Periodico Display Rg" panose="02000504080000020004" pitchFamily="50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dirty="0"/>
              <a:t>Descripción de modelos</a:t>
            </a:r>
          </a:p>
          <a:p>
            <a:endParaRPr lang="es-ES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4AEC3D37-B68A-F30E-16F8-C055332BA448}"/>
              </a:ext>
            </a:extLst>
          </p:cNvPr>
          <p:cNvSpPr txBox="1">
            <a:spLocks/>
          </p:cNvSpPr>
          <p:nvPr/>
        </p:nvSpPr>
        <p:spPr>
          <a:xfrm>
            <a:off x="242053" y="236730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Visuelt Pro" panose="020B05030402020401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04 – Metodología</a:t>
            </a:r>
          </a:p>
        </p:txBody>
      </p:sp>
      <p:cxnSp>
        <p:nvCxnSpPr>
          <p:cNvPr id="18" name="Google Shape;94;p6">
            <a:extLst>
              <a:ext uri="{FF2B5EF4-FFF2-40B4-BE49-F238E27FC236}">
                <a16:creationId xmlns:a16="http://schemas.microsoft.com/office/drawing/2014/main" id="{BE11A64D-6448-47FA-C096-A9AA17A17DEB}"/>
              </a:ext>
            </a:extLst>
          </p:cNvPr>
          <p:cNvCxnSpPr/>
          <p:nvPr/>
        </p:nvCxnSpPr>
        <p:spPr>
          <a:xfrm>
            <a:off x="365760" y="987552"/>
            <a:ext cx="8412480" cy="0"/>
          </a:xfrm>
          <a:prstGeom prst="straightConnector1">
            <a:avLst/>
          </a:prstGeom>
          <a:noFill/>
          <a:ln w="19050" cap="flat" cmpd="sng">
            <a:solidFill>
              <a:srgbClr val="0B7189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58903552-EC53-E31F-7834-0AAEB4DE6B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77"/>
          <a:stretch>
            <a:fillRect/>
          </a:stretch>
        </p:blipFill>
        <p:spPr bwMode="auto">
          <a:xfrm>
            <a:off x="365761" y="1324539"/>
            <a:ext cx="7687993" cy="442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413C4F8E-2CC6-41D9-68FF-A421DABB2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911690"/>
              </p:ext>
            </p:extLst>
          </p:nvPr>
        </p:nvGraphicFramePr>
        <p:xfrm>
          <a:off x="8616462" y="2795084"/>
          <a:ext cx="3209778" cy="25567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04889">
                  <a:extLst>
                    <a:ext uri="{9D8B030D-6E8A-4147-A177-3AD203B41FA5}">
                      <a16:colId xmlns:a16="http://schemas.microsoft.com/office/drawing/2014/main" val="1100144383"/>
                    </a:ext>
                  </a:extLst>
                </a:gridCol>
                <a:gridCol w="1604889">
                  <a:extLst>
                    <a:ext uri="{9D8B030D-6E8A-4147-A177-3AD203B41FA5}">
                      <a16:colId xmlns:a16="http://schemas.microsoft.com/office/drawing/2014/main" val="2755809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Hiperparámetro</a:t>
                      </a:r>
                      <a:endParaRPr lang="es-EC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Valor</a:t>
                      </a:r>
                      <a:endParaRPr lang="es-EC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24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lr_motion</a:t>
                      </a:r>
                      <a:endParaRPr lang="es-EC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1×10⁻³</a:t>
                      </a:r>
                      <a:endParaRPr lang="es-EC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042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hidden_dim</a:t>
                      </a:r>
                      <a:endParaRPr lang="es-EC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128</a:t>
                      </a:r>
                      <a:endParaRPr lang="es-EC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9694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 dirty="0" err="1">
                          <a:effectLst/>
                        </a:rPr>
                        <a:t>model_update_freq</a:t>
                      </a:r>
                      <a:endParaRPr lang="es-EC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50 pasos</a:t>
                      </a:r>
                      <a:endParaRPr lang="es-EC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4996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 dirty="0" err="1">
                          <a:effectLst/>
                        </a:rPr>
                        <a:t>n_iter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por</a:t>
                      </a:r>
                      <a:r>
                        <a:rPr lang="en-US" sz="1400" dirty="0">
                          <a:effectLst/>
                        </a:rPr>
                        <a:t> update</a:t>
                      </a:r>
                      <a:endParaRPr lang="es-EC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s-EC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319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batch_size_motion</a:t>
                      </a:r>
                      <a:endParaRPr lang="es-EC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64</a:t>
                      </a:r>
                      <a:endParaRPr lang="es-EC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14093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buffer_motion</a:t>
                      </a:r>
                      <a:endParaRPr lang="es-EC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5,000</a:t>
                      </a:r>
                      <a:endParaRPr lang="es-EC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1503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λ_EWC</a:t>
                      </a:r>
                      <a:endParaRPr lang="es-EC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400</a:t>
                      </a:r>
                      <a:endParaRPr lang="es-EC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9342862"/>
                  </a:ext>
                </a:extLst>
              </a:tr>
              <a:tr h="7239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 dirty="0" err="1">
                          <a:effectLst/>
                        </a:rPr>
                        <a:t>consolidation_threshold</a:t>
                      </a:r>
                      <a:endParaRPr lang="es-EC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256</a:t>
                      </a:r>
                      <a:endParaRPr lang="es-EC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484211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C04565AE-364A-90DC-C2D0-3FAE4E4B7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6462" y="2447794"/>
            <a:ext cx="320977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C" sz="1400" b="1" i="0" u="none" strike="noStrike" cap="none" normalizeH="0" baseline="0" dirty="0" err="1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Hiperparámetros</a:t>
            </a:r>
            <a:r>
              <a:rPr kumimoji="0" lang="en-US" altLang="es-EC" sz="14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del </a:t>
            </a:r>
            <a:r>
              <a:rPr kumimoji="0" lang="en-US" altLang="es-EC" sz="1400" b="1" i="0" u="none" strike="noStrike" cap="none" normalizeH="0" baseline="0" dirty="0" err="1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MotionModel</a:t>
            </a:r>
            <a:endParaRPr kumimoji="0" lang="es-EC" altLang="es-EC" sz="1400" b="0" i="0" u="none" strike="noStrike" cap="none" normalizeH="0" baseline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C" altLang="es-EC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131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92A06-6B3B-7F4E-73C7-F50B54492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B791BA-F93F-0D2A-D3FE-00FFE5FF285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555523" y="1354016"/>
            <a:ext cx="4721161" cy="342900"/>
          </a:xfrm>
        </p:spPr>
        <p:txBody>
          <a:bodyPr/>
          <a:lstStyle/>
          <a:p>
            <a:r>
              <a:rPr lang="es-EC" dirty="0" err="1"/>
              <a:t>Hiperparámetros</a:t>
            </a:r>
            <a:r>
              <a:rPr lang="es-EC" dirty="0"/>
              <a:t> del Actor y Críticos (SAC)</a:t>
            </a:r>
          </a:p>
          <a:p>
            <a:endParaRPr lang="es-ES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4E7CE498-E29C-335A-48DA-16212888C4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74" y="447409"/>
            <a:ext cx="5892016" cy="523642"/>
          </a:xfrm>
        </p:spPr>
        <p:txBody>
          <a:bodyPr/>
          <a:lstStyle/>
          <a:p>
            <a:r>
              <a:rPr lang="es-ES" dirty="0"/>
              <a:t>Descripción de modelos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C2294A9D-1AF3-E190-C1BF-E9EB2E4310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ES" dirty="0"/>
              <a:t>04 – Metodología</a:t>
            </a:r>
          </a:p>
          <a:p>
            <a:endParaRPr lang="es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AEB0B53-7B03-0341-C03F-9BEC3AAF1F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84" y="1222131"/>
            <a:ext cx="5760131" cy="5503984"/>
          </a:xfrm>
          <a:prstGeom prst="rect">
            <a:avLst/>
          </a:prstGeom>
        </p:spPr>
      </p:pic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8040D0F5-C4F4-A16D-9C28-38F6621DE314}"/>
              </a:ext>
            </a:extLst>
          </p:cNvPr>
          <p:cNvGraphicFramePr>
            <a:graphicFrameLocks noGrp="1"/>
          </p:cNvGraphicFramePr>
          <p:nvPr/>
        </p:nvGraphicFramePr>
        <p:xfrm>
          <a:off x="7193275" y="1868280"/>
          <a:ext cx="3981748" cy="26563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90874">
                  <a:extLst>
                    <a:ext uri="{9D8B030D-6E8A-4147-A177-3AD203B41FA5}">
                      <a16:colId xmlns:a16="http://schemas.microsoft.com/office/drawing/2014/main" val="3669643932"/>
                    </a:ext>
                  </a:extLst>
                </a:gridCol>
                <a:gridCol w="1990874">
                  <a:extLst>
                    <a:ext uri="{9D8B030D-6E8A-4147-A177-3AD203B41FA5}">
                      <a16:colId xmlns:a16="http://schemas.microsoft.com/office/drawing/2014/main" val="707319472"/>
                    </a:ext>
                  </a:extLst>
                </a:gridCol>
              </a:tblGrid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Hiperparámetro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Valor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58027742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lr</a:t>
                      </a:r>
                      <a:r>
                        <a:rPr lang="en-US" sz="1800" dirty="0">
                          <a:effectLst/>
                        </a:rPr>
                        <a:t> (actor/critics)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3×10⁻⁴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2848944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τ (soft update)</a:t>
                      </a:r>
                      <a:endParaRPr lang="es-EC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0.005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3486677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batch_size</a:t>
                      </a:r>
                      <a:endParaRPr lang="es-EC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256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1254015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buffer_size</a:t>
                      </a:r>
                      <a:endParaRPr lang="es-EC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1,000,000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2097112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hidden_dim</a:t>
                      </a:r>
                      <a:endParaRPr lang="es-EC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256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3211518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γ_start / γ_end</a:t>
                      </a:r>
                      <a:endParaRPr lang="es-EC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0.9 / 0.99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2843253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γ_anneal_steps</a:t>
                      </a:r>
                      <a:endParaRPr lang="es-EC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200,000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5177788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ALPHA_FLOOR</a:t>
                      </a:r>
                      <a:endParaRPr lang="es-EC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0.05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8116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3951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7DFED-4EE9-84F3-F248-3B445508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80A69E-F123-979A-E162-6CE747F6096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555523" y="1354016"/>
            <a:ext cx="4721161" cy="342900"/>
          </a:xfrm>
        </p:spPr>
        <p:txBody>
          <a:bodyPr/>
          <a:lstStyle/>
          <a:p>
            <a:r>
              <a:rPr lang="es-EC" dirty="0" err="1"/>
              <a:t>Hiperparámetros</a:t>
            </a:r>
            <a:r>
              <a:rPr lang="es-EC" dirty="0"/>
              <a:t> del Actor y Críticos (SAC)</a:t>
            </a:r>
          </a:p>
          <a:p>
            <a:endParaRPr lang="es-ES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A98D604-7AFE-B5E9-F700-86A277B759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74" y="447409"/>
            <a:ext cx="5892016" cy="523642"/>
          </a:xfrm>
        </p:spPr>
        <p:txBody>
          <a:bodyPr/>
          <a:lstStyle/>
          <a:p>
            <a:r>
              <a:rPr lang="es-ES" dirty="0"/>
              <a:t>Descripción de modelos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FC45EAC7-F717-67A7-0854-71F982B726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ES" dirty="0"/>
              <a:t>04 – Metodología</a:t>
            </a:r>
          </a:p>
          <a:p>
            <a:endParaRPr lang="es-ES" dirty="0"/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F460CBAB-5446-7075-744C-2BBD0AB97546}"/>
              </a:ext>
            </a:extLst>
          </p:cNvPr>
          <p:cNvGraphicFramePr>
            <a:graphicFrameLocks noGrp="1"/>
          </p:cNvGraphicFramePr>
          <p:nvPr/>
        </p:nvGraphicFramePr>
        <p:xfrm>
          <a:off x="7193275" y="1868280"/>
          <a:ext cx="3981748" cy="26563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90874">
                  <a:extLst>
                    <a:ext uri="{9D8B030D-6E8A-4147-A177-3AD203B41FA5}">
                      <a16:colId xmlns:a16="http://schemas.microsoft.com/office/drawing/2014/main" val="3669643932"/>
                    </a:ext>
                  </a:extLst>
                </a:gridCol>
                <a:gridCol w="1990874">
                  <a:extLst>
                    <a:ext uri="{9D8B030D-6E8A-4147-A177-3AD203B41FA5}">
                      <a16:colId xmlns:a16="http://schemas.microsoft.com/office/drawing/2014/main" val="707319472"/>
                    </a:ext>
                  </a:extLst>
                </a:gridCol>
              </a:tblGrid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Hiperparámetro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Valor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58027742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lr</a:t>
                      </a:r>
                      <a:r>
                        <a:rPr lang="en-US" sz="1800" dirty="0">
                          <a:effectLst/>
                        </a:rPr>
                        <a:t> (actor/critics)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3×10⁻⁴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2848944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τ (soft update)</a:t>
                      </a:r>
                      <a:endParaRPr lang="es-EC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0.005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3486677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batch_size</a:t>
                      </a:r>
                      <a:endParaRPr lang="es-EC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256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1254015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buffer_size</a:t>
                      </a:r>
                      <a:endParaRPr lang="es-EC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1,000,000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2097112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hidden_dim</a:t>
                      </a:r>
                      <a:endParaRPr lang="es-EC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256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3211518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γ_start / γ_end</a:t>
                      </a:r>
                      <a:endParaRPr lang="es-EC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0.9 / 0.99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2843253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γ_anneal_steps</a:t>
                      </a:r>
                      <a:endParaRPr lang="es-EC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200,000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5177788"/>
                  </a:ext>
                </a:extLst>
              </a:tr>
              <a:tr h="1489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ALPHA_FLOOR</a:t>
                      </a:r>
                      <a:endParaRPr lang="es-EC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0.05</a:t>
                      </a:r>
                      <a:endParaRPr lang="es-EC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8116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4217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77504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9FEC085B-C42E-4C61-BA45-F0CBF4A9B8CE}" vid="{F0BE4A23-24D6-48E4-8D6B-05666E535A61}"/>
    </a:ext>
  </a:extLst>
</a:theme>
</file>

<file path=ppt/theme/theme2.xml><?xml version="1.0" encoding="utf-8"?>
<a:theme xmlns:a="http://schemas.openxmlformats.org/drawingml/2006/main" name="Diseño personalizado">
  <a:themeElements>
    <a:clrScheme name="Personalizado 4">
      <a:dk1>
        <a:srgbClr val="000000"/>
      </a:dk1>
      <a:lt1>
        <a:srgbClr val="FFFFFF"/>
      </a:lt1>
      <a:dk2>
        <a:srgbClr val="E7E6E6"/>
      </a:dk2>
      <a:lt2>
        <a:srgbClr val="E45115"/>
      </a:lt2>
      <a:accent1>
        <a:srgbClr val="E45115"/>
      </a:accent1>
      <a:accent2>
        <a:srgbClr val="EC7240"/>
      </a:accent2>
      <a:accent3>
        <a:srgbClr val="F2A788"/>
      </a:accent3>
      <a:accent4>
        <a:srgbClr val="F19672"/>
      </a:accent4>
      <a:accent5>
        <a:srgbClr val="F5B8A0"/>
      </a:accent5>
      <a:accent6>
        <a:srgbClr val="FEEDE5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9FEC085B-C42E-4C61-BA45-F0CBF4A9B8CE}" vid="{CF5982C2-2DC0-4862-889C-BC0841D66ED3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d4e2299-38dc-4e29-b197-973018d29897}" enabled="1" method="Privileged" siteId="{fb7998bd-46a6-431e-bc20-1bd3897ee22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1186</TotalTime>
  <Words>712</Words>
  <Application>Microsoft Office PowerPoint</Application>
  <PresentationFormat>Panorámica</PresentationFormat>
  <Paragraphs>181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Arial</vt:lpstr>
      <vt:lpstr>Calibri</vt:lpstr>
      <vt:lpstr>Periodico Display Rg</vt:lpstr>
      <vt:lpstr>Periodico Display UtLg</vt:lpstr>
      <vt:lpstr>Trebuchet MS</vt:lpstr>
      <vt:lpstr>Visuelt Pro</vt:lpstr>
      <vt:lpstr>Tema de Office</vt:lpstr>
      <vt:lpstr>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Planeta Sistemas y OPeraciones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Gina Gómez Herrero</dc:creator>
  <cp:lastModifiedBy>Granda Rodriguez Jenniffer Lissette</cp:lastModifiedBy>
  <cp:revision>43</cp:revision>
  <dcterms:created xsi:type="dcterms:W3CDTF">2021-03-22T10:48:02Z</dcterms:created>
  <dcterms:modified xsi:type="dcterms:W3CDTF">2026-04-22T22:01:46Z</dcterms:modified>
</cp:coreProperties>
</file>